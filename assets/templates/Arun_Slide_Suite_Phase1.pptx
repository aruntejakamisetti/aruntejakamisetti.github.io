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notesMasterIdLst>
    <p:notesMasterId r:id="rId21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41B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09760" y="457200"/>
            <a:ext cx="45720" cy="45720"/>
          </a:xfrm>
          <a:prstGeom prst="ellipse">
            <a:avLst/>
          </a:prstGeom>
          <a:solidFill>
            <a:srgbClr val="5C4A3A"/>
          </a:solidFill>
          <a:ln/>
        </p:spPr>
      </p:sp>
      <p:sp>
        <p:nvSpPr>
          <p:cNvPr id="3" name="Shape 1"/>
          <p:cNvSpPr/>
          <p:nvPr/>
        </p:nvSpPr>
        <p:spPr>
          <a:xfrm>
            <a:off x="9710928" y="457200"/>
            <a:ext cx="45720" cy="45720"/>
          </a:xfrm>
          <a:prstGeom prst="ellipse">
            <a:avLst/>
          </a:prstGeom>
          <a:solidFill>
            <a:srgbClr val="5C4A3A"/>
          </a:solidFill>
          <a:ln/>
        </p:spPr>
      </p:sp>
      <p:sp>
        <p:nvSpPr>
          <p:cNvPr id="4" name="Shape 2"/>
          <p:cNvSpPr/>
          <p:nvPr/>
        </p:nvSpPr>
        <p:spPr>
          <a:xfrm>
            <a:off x="9912096" y="457200"/>
            <a:ext cx="45720" cy="45720"/>
          </a:xfrm>
          <a:prstGeom prst="ellipse">
            <a:avLst/>
          </a:prstGeom>
          <a:solidFill>
            <a:srgbClr val="5C4A3A"/>
          </a:solidFill>
          <a:ln/>
        </p:spPr>
      </p:sp>
      <p:sp>
        <p:nvSpPr>
          <p:cNvPr id="5" name="Shape 3"/>
          <p:cNvSpPr/>
          <p:nvPr/>
        </p:nvSpPr>
        <p:spPr>
          <a:xfrm>
            <a:off x="10113264" y="457200"/>
            <a:ext cx="45720" cy="45720"/>
          </a:xfrm>
          <a:prstGeom prst="ellipse">
            <a:avLst/>
          </a:prstGeom>
          <a:solidFill>
            <a:srgbClr val="5C4A3A"/>
          </a:solidFill>
          <a:ln/>
        </p:spPr>
      </p:sp>
      <p:sp>
        <p:nvSpPr>
          <p:cNvPr id="6" name="Shape 4"/>
          <p:cNvSpPr/>
          <p:nvPr/>
        </p:nvSpPr>
        <p:spPr>
          <a:xfrm>
            <a:off x="10314432" y="457200"/>
            <a:ext cx="45720" cy="45720"/>
          </a:xfrm>
          <a:prstGeom prst="ellipse">
            <a:avLst/>
          </a:prstGeom>
          <a:solidFill>
            <a:srgbClr val="5C4A3A"/>
          </a:solidFill>
          <a:ln/>
        </p:spPr>
      </p:sp>
      <p:sp>
        <p:nvSpPr>
          <p:cNvPr id="7" name="Shape 5"/>
          <p:cNvSpPr/>
          <p:nvPr/>
        </p:nvSpPr>
        <p:spPr>
          <a:xfrm>
            <a:off x="10515600" y="457200"/>
            <a:ext cx="45720" cy="45720"/>
          </a:xfrm>
          <a:prstGeom prst="ellipse">
            <a:avLst/>
          </a:prstGeom>
          <a:solidFill>
            <a:srgbClr val="5C4A3A"/>
          </a:solidFill>
          <a:ln/>
        </p:spPr>
      </p:sp>
      <p:sp>
        <p:nvSpPr>
          <p:cNvPr id="8" name="Shape 6"/>
          <p:cNvSpPr/>
          <p:nvPr/>
        </p:nvSpPr>
        <p:spPr>
          <a:xfrm>
            <a:off x="10716768" y="457200"/>
            <a:ext cx="45720" cy="45720"/>
          </a:xfrm>
          <a:prstGeom prst="ellipse">
            <a:avLst/>
          </a:prstGeom>
          <a:solidFill>
            <a:srgbClr val="5C4A3A"/>
          </a:solidFill>
          <a:ln/>
        </p:spPr>
      </p:sp>
      <p:sp>
        <p:nvSpPr>
          <p:cNvPr id="9" name="Shape 7"/>
          <p:cNvSpPr/>
          <p:nvPr/>
        </p:nvSpPr>
        <p:spPr>
          <a:xfrm>
            <a:off x="10917936" y="457200"/>
            <a:ext cx="45720" cy="45720"/>
          </a:xfrm>
          <a:prstGeom prst="ellipse">
            <a:avLst/>
          </a:prstGeom>
          <a:solidFill>
            <a:srgbClr val="5C4A3A"/>
          </a:solidFill>
          <a:ln/>
        </p:spPr>
      </p:sp>
      <p:sp>
        <p:nvSpPr>
          <p:cNvPr id="10" name="Shape 8"/>
          <p:cNvSpPr/>
          <p:nvPr/>
        </p:nvSpPr>
        <p:spPr>
          <a:xfrm>
            <a:off x="11119104" y="457200"/>
            <a:ext cx="45720" cy="45720"/>
          </a:xfrm>
          <a:prstGeom prst="ellipse">
            <a:avLst/>
          </a:prstGeom>
          <a:solidFill>
            <a:srgbClr val="5C4A3A"/>
          </a:solidFill>
          <a:ln/>
        </p:spPr>
      </p:sp>
      <p:sp>
        <p:nvSpPr>
          <p:cNvPr id="11" name="Shape 9"/>
          <p:cNvSpPr/>
          <p:nvPr/>
        </p:nvSpPr>
        <p:spPr>
          <a:xfrm>
            <a:off x="11320272" y="457200"/>
            <a:ext cx="45720" cy="45720"/>
          </a:xfrm>
          <a:prstGeom prst="ellipse">
            <a:avLst/>
          </a:prstGeom>
          <a:solidFill>
            <a:srgbClr val="5C4A3A"/>
          </a:solidFill>
          <a:ln/>
        </p:spPr>
      </p:sp>
      <p:sp>
        <p:nvSpPr>
          <p:cNvPr id="12" name="Shape 10"/>
          <p:cNvSpPr/>
          <p:nvPr/>
        </p:nvSpPr>
        <p:spPr>
          <a:xfrm>
            <a:off x="9509760" y="658368"/>
            <a:ext cx="45720" cy="45720"/>
          </a:xfrm>
          <a:prstGeom prst="ellipse">
            <a:avLst/>
          </a:prstGeom>
          <a:solidFill>
            <a:srgbClr val="5C4A3A"/>
          </a:solidFill>
          <a:ln/>
        </p:spPr>
      </p:sp>
      <p:sp>
        <p:nvSpPr>
          <p:cNvPr id="13" name="Shape 11"/>
          <p:cNvSpPr/>
          <p:nvPr/>
        </p:nvSpPr>
        <p:spPr>
          <a:xfrm>
            <a:off x="9710928" y="658368"/>
            <a:ext cx="45720" cy="45720"/>
          </a:xfrm>
          <a:prstGeom prst="ellipse">
            <a:avLst/>
          </a:prstGeom>
          <a:solidFill>
            <a:srgbClr val="5C4A3A"/>
          </a:solidFill>
          <a:ln/>
        </p:spPr>
      </p:sp>
      <p:sp>
        <p:nvSpPr>
          <p:cNvPr id="14" name="Shape 12"/>
          <p:cNvSpPr/>
          <p:nvPr/>
        </p:nvSpPr>
        <p:spPr>
          <a:xfrm>
            <a:off x="9912096" y="658368"/>
            <a:ext cx="45720" cy="45720"/>
          </a:xfrm>
          <a:prstGeom prst="ellipse">
            <a:avLst/>
          </a:prstGeom>
          <a:solidFill>
            <a:srgbClr val="5C4A3A"/>
          </a:solidFill>
          <a:ln/>
        </p:spPr>
      </p:sp>
      <p:sp>
        <p:nvSpPr>
          <p:cNvPr id="15" name="Shape 13"/>
          <p:cNvSpPr/>
          <p:nvPr/>
        </p:nvSpPr>
        <p:spPr>
          <a:xfrm>
            <a:off x="10113264" y="658368"/>
            <a:ext cx="45720" cy="45720"/>
          </a:xfrm>
          <a:prstGeom prst="ellipse">
            <a:avLst/>
          </a:prstGeom>
          <a:solidFill>
            <a:srgbClr val="5C4A3A"/>
          </a:solidFill>
          <a:ln/>
        </p:spPr>
      </p:sp>
      <p:sp>
        <p:nvSpPr>
          <p:cNvPr id="16" name="Shape 14"/>
          <p:cNvSpPr/>
          <p:nvPr/>
        </p:nvSpPr>
        <p:spPr>
          <a:xfrm>
            <a:off x="10314432" y="658368"/>
            <a:ext cx="45720" cy="45720"/>
          </a:xfrm>
          <a:prstGeom prst="ellipse">
            <a:avLst/>
          </a:prstGeom>
          <a:solidFill>
            <a:srgbClr val="5C4A3A"/>
          </a:solidFill>
          <a:ln/>
        </p:spPr>
      </p:sp>
      <p:sp>
        <p:nvSpPr>
          <p:cNvPr id="17" name="Shape 15"/>
          <p:cNvSpPr/>
          <p:nvPr/>
        </p:nvSpPr>
        <p:spPr>
          <a:xfrm>
            <a:off x="10515600" y="658368"/>
            <a:ext cx="45720" cy="45720"/>
          </a:xfrm>
          <a:prstGeom prst="ellipse">
            <a:avLst/>
          </a:prstGeom>
          <a:solidFill>
            <a:srgbClr val="5C4A3A"/>
          </a:solidFill>
          <a:ln/>
        </p:spPr>
      </p:sp>
      <p:sp>
        <p:nvSpPr>
          <p:cNvPr id="18" name="Shape 16"/>
          <p:cNvSpPr/>
          <p:nvPr/>
        </p:nvSpPr>
        <p:spPr>
          <a:xfrm>
            <a:off x="10716768" y="658368"/>
            <a:ext cx="45720" cy="45720"/>
          </a:xfrm>
          <a:prstGeom prst="ellipse">
            <a:avLst/>
          </a:prstGeom>
          <a:solidFill>
            <a:srgbClr val="5C4A3A"/>
          </a:solidFill>
          <a:ln/>
        </p:spPr>
      </p:sp>
      <p:sp>
        <p:nvSpPr>
          <p:cNvPr id="19" name="Shape 17"/>
          <p:cNvSpPr/>
          <p:nvPr/>
        </p:nvSpPr>
        <p:spPr>
          <a:xfrm>
            <a:off x="10917936" y="658368"/>
            <a:ext cx="45720" cy="45720"/>
          </a:xfrm>
          <a:prstGeom prst="ellipse">
            <a:avLst/>
          </a:prstGeom>
          <a:solidFill>
            <a:srgbClr val="5C4A3A"/>
          </a:solidFill>
          <a:ln/>
        </p:spPr>
      </p:sp>
      <p:sp>
        <p:nvSpPr>
          <p:cNvPr id="20" name="Shape 18"/>
          <p:cNvSpPr/>
          <p:nvPr/>
        </p:nvSpPr>
        <p:spPr>
          <a:xfrm>
            <a:off x="11119104" y="658368"/>
            <a:ext cx="45720" cy="45720"/>
          </a:xfrm>
          <a:prstGeom prst="ellipse">
            <a:avLst/>
          </a:prstGeom>
          <a:solidFill>
            <a:srgbClr val="5C4A3A"/>
          </a:solidFill>
          <a:ln/>
        </p:spPr>
      </p:sp>
      <p:sp>
        <p:nvSpPr>
          <p:cNvPr id="21" name="Shape 19"/>
          <p:cNvSpPr/>
          <p:nvPr/>
        </p:nvSpPr>
        <p:spPr>
          <a:xfrm>
            <a:off x="11320272" y="658368"/>
            <a:ext cx="45720" cy="45720"/>
          </a:xfrm>
          <a:prstGeom prst="ellipse">
            <a:avLst/>
          </a:prstGeom>
          <a:solidFill>
            <a:srgbClr val="5C4A3A"/>
          </a:solidFill>
          <a:ln/>
        </p:spPr>
      </p:sp>
      <p:sp>
        <p:nvSpPr>
          <p:cNvPr id="22" name="Shape 20"/>
          <p:cNvSpPr/>
          <p:nvPr/>
        </p:nvSpPr>
        <p:spPr>
          <a:xfrm>
            <a:off x="9509760" y="859536"/>
            <a:ext cx="45720" cy="45720"/>
          </a:xfrm>
          <a:prstGeom prst="ellipse">
            <a:avLst/>
          </a:prstGeom>
          <a:solidFill>
            <a:srgbClr val="5C4A3A"/>
          </a:solidFill>
          <a:ln/>
        </p:spPr>
      </p:sp>
      <p:sp>
        <p:nvSpPr>
          <p:cNvPr id="23" name="Shape 21"/>
          <p:cNvSpPr/>
          <p:nvPr/>
        </p:nvSpPr>
        <p:spPr>
          <a:xfrm>
            <a:off x="9710928" y="859536"/>
            <a:ext cx="45720" cy="45720"/>
          </a:xfrm>
          <a:prstGeom prst="ellipse">
            <a:avLst/>
          </a:prstGeom>
          <a:solidFill>
            <a:srgbClr val="5C4A3A"/>
          </a:solidFill>
          <a:ln/>
        </p:spPr>
      </p:sp>
      <p:sp>
        <p:nvSpPr>
          <p:cNvPr id="24" name="Shape 22"/>
          <p:cNvSpPr/>
          <p:nvPr/>
        </p:nvSpPr>
        <p:spPr>
          <a:xfrm>
            <a:off x="9912096" y="859536"/>
            <a:ext cx="45720" cy="45720"/>
          </a:xfrm>
          <a:prstGeom prst="ellipse">
            <a:avLst/>
          </a:prstGeom>
          <a:solidFill>
            <a:srgbClr val="5C4A3A"/>
          </a:solidFill>
          <a:ln/>
        </p:spPr>
      </p:sp>
      <p:sp>
        <p:nvSpPr>
          <p:cNvPr id="25" name="Shape 23"/>
          <p:cNvSpPr/>
          <p:nvPr/>
        </p:nvSpPr>
        <p:spPr>
          <a:xfrm>
            <a:off x="10113264" y="859536"/>
            <a:ext cx="45720" cy="45720"/>
          </a:xfrm>
          <a:prstGeom prst="ellipse">
            <a:avLst/>
          </a:prstGeom>
          <a:solidFill>
            <a:srgbClr val="5C4A3A"/>
          </a:solidFill>
          <a:ln/>
        </p:spPr>
      </p:sp>
      <p:sp>
        <p:nvSpPr>
          <p:cNvPr id="26" name="Shape 24"/>
          <p:cNvSpPr/>
          <p:nvPr/>
        </p:nvSpPr>
        <p:spPr>
          <a:xfrm>
            <a:off x="10314432" y="859536"/>
            <a:ext cx="45720" cy="45720"/>
          </a:xfrm>
          <a:prstGeom prst="ellipse">
            <a:avLst/>
          </a:prstGeom>
          <a:solidFill>
            <a:srgbClr val="5C4A3A"/>
          </a:solidFill>
          <a:ln/>
        </p:spPr>
      </p:sp>
      <p:sp>
        <p:nvSpPr>
          <p:cNvPr id="27" name="Shape 25"/>
          <p:cNvSpPr/>
          <p:nvPr/>
        </p:nvSpPr>
        <p:spPr>
          <a:xfrm>
            <a:off x="10515600" y="859536"/>
            <a:ext cx="45720" cy="45720"/>
          </a:xfrm>
          <a:prstGeom prst="ellipse">
            <a:avLst/>
          </a:prstGeom>
          <a:solidFill>
            <a:srgbClr val="5C4A3A"/>
          </a:solidFill>
          <a:ln/>
        </p:spPr>
      </p:sp>
      <p:sp>
        <p:nvSpPr>
          <p:cNvPr id="28" name="Shape 26"/>
          <p:cNvSpPr/>
          <p:nvPr/>
        </p:nvSpPr>
        <p:spPr>
          <a:xfrm>
            <a:off x="10716768" y="859536"/>
            <a:ext cx="45720" cy="45720"/>
          </a:xfrm>
          <a:prstGeom prst="ellipse">
            <a:avLst/>
          </a:prstGeom>
          <a:solidFill>
            <a:srgbClr val="5C4A3A"/>
          </a:solidFill>
          <a:ln/>
        </p:spPr>
      </p:sp>
      <p:sp>
        <p:nvSpPr>
          <p:cNvPr id="29" name="Shape 27"/>
          <p:cNvSpPr/>
          <p:nvPr/>
        </p:nvSpPr>
        <p:spPr>
          <a:xfrm>
            <a:off x="10917936" y="859536"/>
            <a:ext cx="45720" cy="45720"/>
          </a:xfrm>
          <a:prstGeom prst="ellipse">
            <a:avLst/>
          </a:prstGeom>
          <a:solidFill>
            <a:srgbClr val="5C4A3A"/>
          </a:solidFill>
          <a:ln/>
        </p:spPr>
      </p:sp>
      <p:sp>
        <p:nvSpPr>
          <p:cNvPr id="30" name="Shape 28"/>
          <p:cNvSpPr/>
          <p:nvPr/>
        </p:nvSpPr>
        <p:spPr>
          <a:xfrm>
            <a:off x="11119104" y="859536"/>
            <a:ext cx="45720" cy="45720"/>
          </a:xfrm>
          <a:prstGeom prst="ellipse">
            <a:avLst/>
          </a:prstGeom>
          <a:solidFill>
            <a:srgbClr val="5C4A3A"/>
          </a:solidFill>
          <a:ln/>
        </p:spPr>
      </p:sp>
      <p:sp>
        <p:nvSpPr>
          <p:cNvPr id="31" name="Shape 29"/>
          <p:cNvSpPr/>
          <p:nvPr/>
        </p:nvSpPr>
        <p:spPr>
          <a:xfrm>
            <a:off x="11320272" y="859536"/>
            <a:ext cx="45720" cy="45720"/>
          </a:xfrm>
          <a:prstGeom prst="ellipse">
            <a:avLst/>
          </a:prstGeom>
          <a:solidFill>
            <a:srgbClr val="5C4A3A"/>
          </a:solidFill>
          <a:ln/>
        </p:spPr>
      </p:sp>
      <p:sp>
        <p:nvSpPr>
          <p:cNvPr id="32" name="Shape 30"/>
          <p:cNvSpPr/>
          <p:nvPr/>
        </p:nvSpPr>
        <p:spPr>
          <a:xfrm>
            <a:off x="9509760" y="1060704"/>
            <a:ext cx="45720" cy="45720"/>
          </a:xfrm>
          <a:prstGeom prst="ellipse">
            <a:avLst/>
          </a:prstGeom>
          <a:solidFill>
            <a:srgbClr val="5C4A3A"/>
          </a:solidFill>
          <a:ln/>
        </p:spPr>
      </p:sp>
      <p:sp>
        <p:nvSpPr>
          <p:cNvPr id="33" name="Shape 31"/>
          <p:cNvSpPr/>
          <p:nvPr/>
        </p:nvSpPr>
        <p:spPr>
          <a:xfrm>
            <a:off x="9710928" y="1060704"/>
            <a:ext cx="45720" cy="45720"/>
          </a:xfrm>
          <a:prstGeom prst="ellipse">
            <a:avLst/>
          </a:prstGeom>
          <a:solidFill>
            <a:srgbClr val="5C4A3A"/>
          </a:solidFill>
          <a:ln/>
        </p:spPr>
      </p:sp>
      <p:sp>
        <p:nvSpPr>
          <p:cNvPr id="34" name="Shape 32"/>
          <p:cNvSpPr/>
          <p:nvPr/>
        </p:nvSpPr>
        <p:spPr>
          <a:xfrm>
            <a:off x="9912096" y="1060704"/>
            <a:ext cx="45720" cy="45720"/>
          </a:xfrm>
          <a:prstGeom prst="ellipse">
            <a:avLst/>
          </a:prstGeom>
          <a:solidFill>
            <a:srgbClr val="5C4A3A"/>
          </a:solidFill>
          <a:ln/>
        </p:spPr>
      </p:sp>
      <p:sp>
        <p:nvSpPr>
          <p:cNvPr id="35" name="Shape 33"/>
          <p:cNvSpPr/>
          <p:nvPr/>
        </p:nvSpPr>
        <p:spPr>
          <a:xfrm>
            <a:off x="10113264" y="1060704"/>
            <a:ext cx="45720" cy="45720"/>
          </a:xfrm>
          <a:prstGeom prst="ellipse">
            <a:avLst/>
          </a:prstGeom>
          <a:solidFill>
            <a:srgbClr val="5C4A3A"/>
          </a:solidFill>
          <a:ln/>
        </p:spPr>
      </p:sp>
      <p:sp>
        <p:nvSpPr>
          <p:cNvPr id="36" name="Shape 34"/>
          <p:cNvSpPr/>
          <p:nvPr/>
        </p:nvSpPr>
        <p:spPr>
          <a:xfrm>
            <a:off x="10314432" y="1060704"/>
            <a:ext cx="45720" cy="45720"/>
          </a:xfrm>
          <a:prstGeom prst="ellipse">
            <a:avLst/>
          </a:prstGeom>
          <a:solidFill>
            <a:srgbClr val="5C4A3A"/>
          </a:solidFill>
          <a:ln/>
        </p:spPr>
      </p:sp>
      <p:sp>
        <p:nvSpPr>
          <p:cNvPr id="37" name="Shape 35"/>
          <p:cNvSpPr/>
          <p:nvPr/>
        </p:nvSpPr>
        <p:spPr>
          <a:xfrm>
            <a:off x="10515600" y="1060704"/>
            <a:ext cx="45720" cy="45720"/>
          </a:xfrm>
          <a:prstGeom prst="ellipse">
            <a:avLst/>
          </a:prstGeom>
          <a:solidFill>
            <a:srgbClr val="5C4A3A"/>
          </a:solidFill>
          <a:ln/>
        </p:spPr>
      </p:sp>
      <p:sp>
        <p:nvSpPr>
          <p:cNvPr id="38" name="Shape 36"/>
          <p:cNvSpPr/>
          <p:nvPr/>
        </p:nvSpPr>
        <p:spPr>
          <a:xfrm>
            <a:off x="10716768" y="1060704"/>
            <a:ext cx="45720" cy="45720"/>
          </a:xfrm>
          <a:prstGeom prst="ellipse">
            <a:avLst/>
          </a:prstGeom>
          <a:solidFill>
            <a:srgbClr val="5C4A3A"/>
          </a:solidFill>
          <a:ln/>
        </p:spPr>
      </p:sp>
      <p:sp>
        <p:nvSpPr>
          <p:cNvPr id="39" name="Shape 37"/>
          <p:cNvSpPr/>
          <p:nvPr/>
        </p:nvSpPr>
        <p:spPr>
          <a:xfrm>
            <a:off x="10917936" y="1060704"/>
            <a:ext cx="45720" cy="45720"/>
          </a:xfrm>
          <a:prstGeom prst="ellipse">
            <a:avLst/>
          </a:prstGeom>
          <a:solidFill>
            <a:srgbClr val="5C4A3A"/>
          </a:solidFill>
          <a:ln/>
        </p:spPr>
      </p:sp>
      <p:sp>
        <p:nvSpPr>
          <p:cNvPr id="40" name="Shape 38"/>
          <p:cNvSpPr/>
          <p:nvPr/>
        </p:nvSpPr>
        <p:spPr>
          <a:xfrm>
            <a:off x="11119104" y="1060704"/>
            <a:ext cx="45720" cy="45720"/>
          </a:xfrm>
          <a:prstGeom prst="ellipse">
            <a:avLst/>
          </a:prstGeom>
          <a:solidFill>
            <a:srgbClr val="5C4A3A"/>
          </a:solidFill>
          <a:ln/>
        </p:spPr>
      </p:sp>
      <p:sp>
        <p:nvSpPr>
          <p:cNvPr id="41" name="Shape 39"/>
          <p:cNvSpPr/>
          <p:nvPr/>
        </p:nvSpPr>
        <p:spPr>
          <a:xfrm>
            <a:off x="11320272" y="1060704"/>
            <a:ext cx="45720" cy="45720"/>
          </a:xfrm>
          <a:prstGeom prst="ellipse">
            <a:avLst/>
          </a:prstGeom>
          <a:solidFill>
            <a:srgbClr val="5C4A3A"/>
          </a:solidFill>
          <a:ln/>
        </p:spPr>
      </p:sp>
      <p:sp>
        <p:nvSpPr>
          <p:cNvPr id="42" name="Shape 40"/>
          <p:cNvSpPr/>
          <p:nvPr/>
        </p:nvSpPr>
        <p:spPr>
          <a:xfrm>
            <a:off x="9509760" y="1261872"/>
            <a:ext cx="45720" cy="45720"/>
          </a:xfrm>
          <a:prstGeom prst="ellipse">
            <a:avLst/>
          </a:prstGeom>
          <a:solidFill>
            <a:srgbClr val="5C4A3A"/>
          </a:solidFill>
          <a:ln/>
        </p:spPr>
      </p:sp>
      <p:sp>
        <p:nvSpPr>
          <p:cNvPr id="43" name="Shape 41"/>
          <p:cNvSpPr/>
          <p:nvPr/>
        </p:nvSpPr>
        <p:spPr>
          <a:xfrm>
            <a:off x="9710928" y="1261872"/>
            <a:ext cx="45720" cy="45720"/>
          </a:xfrm>
          <a:prstGeom prst="ellipse">
            <a:avLst/>
          </a:prstGeom>
          <a:solidFill>
            <a:srgbClr val="5C4A3A"/>
          </a:solidFill>
          <a:ln/>
        </p:spPr>
      </p:sp>
      <p:sp>
        <p:nvSpPr>
          <p:cNvPr id="44" name="Shape 42"/>
          <p:cNvSpPr/>
          <p:nvPr/>
        </p:nvSpPr>
        <p:spPr>
          <a:xfrm>
            <a:off x="9912096" y="1261872"/>
            <a:ext cx="45720" cy="45720"/>
          </a:xfrm>
          <a:prstGeom prst="ellipse">
            <a:avLst/>
          </a:prstGeom>
          <a:solidFill>
            <a:srgbClr val="5C4A3A"/>
          </a:solidFill>
          <a:ln/>
        </p:spPr>
      </p:sp>
      <p:sp>
        <p:nvSpPr>
          <p:cNvPr id="45" name="Shape 43"/>
          <p:cNvSpPr/>
          <p:nvPr/>
        </p:nvSpPr>
        <p:spPr>
          <a:xfrm>
            <a:off x="10113264" y="1261872"/>
            <a:ext cx="45720" cy="45720"/>
          </a:xfrm>
          <a:prstGeom prst="ellipse">
            <a:avLst/>
          </a:prstGeom>
          <a:solidFill>
            <a:srgbClr val="5C4A3A"/>
          </a:solidFill>
          <a:ln/>
        </p:spPr>
      </p:sp>
      <p:sp>
        <p:nvSpPr>
          <p:cNvPr id="46" name="Shape 44"/>
          <p:cNvSpPr/>
          <p:nvPr/>
        </p:nvSpPr>
        <p:spPr>
          <a:xfrm>
            <a:off x="10314432" y="1261872"/>
            <a:ext cx="45720" cy="45720"/>
          </a:xfrm>
          <a:prstGeom prst="ellipse">
            <a:avLst/>
          </a:prstGeom>
          <a:solidFill>
            <a:srgbClr val="5C4A3A"/>
          </a:solidFill>
          <a:ln/>
        </p:spPr>
      </p:sp>
      <p:sp>
        <p:nvSpPr>
          <p:cNvPr id="47" name="Shape 45"/>
          <p:cNvSpPr/>
          <p:nvPr/>
        </p:nvSpPr>
        <p:spPr>
          <a:xfrm>
            <a:off x="10515600" y="1261872"/>
            <a:ext cx="45720" cy="45720"/>
          </a:xfrm>
          <a:prstGeom prst="ellipse">
            <a:avLst/>
          </a:prstGeom>
          <a:solidFill>
            <a:srgbClr val="5C4A3A"/>
          </a:solidFill>
          <a:ln/>
        </p:spPr>
      </p:sp>
      <p:sp>
        <p:nvSpPr>
          <p:cNvPr id="48" name="Shape 46"/>
          <p:cNvSpPr/>
          <p:nvPr/>
        </p:nvSpPr>
        <p:spPr>
          <a:xfrm>
            <a:off x="10716768" y="1261872"/>
            <a:ext cx="45720" cy="45720"/>
          </a:xfrm>
          <a:prstGeom prst="ellipse">
            <a:avLst/>
          </a:prstGeom>
          <a:solidFill>
            <a:srgbClr val="5C4A3A"/>
          </a:solidFill>
          <a:ln/>
        </p:spPr>
      </p:sp>
      <p:sp>
        <p:nvSpPr>
          <p:cNvPr id="49" name="Shape 47"/>
          <p:cNvSpPr/>
          <p:nvPr/>
        </p:nvSpPr>
        <p:spPr>
          <a:xfrm>
            <a:off x="10917936" y="1261872"/>
            <a:ext cx="45720" cy="45720"/>
          </a:xfrm>
          <a:prstGeom prst="ellipse">
            <a:avLst/>
          </a:prstGeom>
          <a:solidFill>
            <a:srgbClr val="5C4A3A"/>
          </a:solidFill>
          <a:ln/>
        </p:spPr>
      </p:sp>
      <p:sp>
        <p:nvSpPr>
          <p:cNvPr id="50" name="Shape 48"/>
          <p:cNvSpPr/>
          <p:nvPr/>
        </p:nvSpPr>
        <p:spPr>
          <a:xfrm>
            <a:off x="11119104" y="1261872"/>
            <a:ext cx="45720" cy="45720"/>
          </a:xfrm>
          <a:prstGeom prst="ellipse">
            <a:avLst/>
          </a:prstGeom>
          <a:solidFill>
            <a:srgbClr val="5C4A3A"/>
          </a:solidFill>
          <a:ln/>
        </p:spPr>
      </p:sp>
      <p:sp>
        <p:nvSpPr>
          <p:cNvPr id="51" name="Shape 49"/>
          <p:cNvSpPr/>
          <p:nvPr/>
        </p:nvSpPr>
        <p:spPr>
          <a:xfrm>
            <a:off x="11320272" y="1261872"/>
            <a:ext cx="45720" cy="45720"/>
          </a:xfrm>
          <a:prstGeom prst="ellipse">
            <a:avLst/>
          </a:prstGeom>
          <a:solidFill>
            <a:srgbClr val="5C4A3A"/>
          </a:solidFill>
          <a:ln/>
        </p:spPr>
      </p:sp>
      <p:sp>
        <p:nvSpPr>
          <p:cNvPr id="52" name="Text 50"/>
          <p:cNvSpPr/>
          <p:nvPr/>
        </p:nvSpPr>
        <p:spPr>
          <a:xfrm>
            <a:off x="566928" y="18288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300" kern="0" dirty="0">
                <a:solidFill>
                  <a:srgbClr val="FF6A2B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PRODUCT STRATEGY</a:t>
            </a:r>
            <a:endParaRPr lang="en-US" sz="1300" dirty="0"/>
          </a:p>
        </p:txBody>
      </p:sp>
      <p:sp>
        <p:nvSpPr>
          <p:cNvPr id="53" name="Text 51"/>
          <p:cNvSpPr/>
          <p:nvPr/>
        </p:nvSpPr>
        <p:spPr>
          <a:xfrm>
            <a:off x="566928" y="2240280"/>
            <a:ext cx="100584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Deck Title Goes</a:t>
            </a:r>
            <a:endParaRPr lang="en-US" sz="52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Here — Bold &amp; Clear</a:t>
            </a:r>
            <a:endParaRPr lang="en-US" sz="5200" dirty="0"/>
          </a:p>
        </p:txBody>
      </p:sp>
      <p:sp>
        <p:nvSpPr>
          <p:cNvPr id="54" name="Shape 52"/>
          <p:cNvSpPr/>
          <p:nvPr/>
        </p:nvSpPr>
        <p:spPr>
          <a:xfrm>
            <a:off x="566928" y="4754880"/>
            <a:ext cx="3108960" cy="0"/>
          </a:xfrm>
          <a:prstGeom prst="line">
            <a:avLst/>
          </a:prstGeom>
          <a:noFill/>
          <a:ln w="31750">
            <a:solidFill>
              <a:srgbClr val="FF6A2B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566928" y="49377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9B79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Subtitle or one-line value proposition for the presentation.</a:t>
            </a:r>
            <a:endParaRPr lang="en-US" sz="1400" dirty="0"/>
          </a:p>
        </p:txBody>
      </p:sp>
      <p:sp>
        <p:nvSpPr>
          <p:cNvPr id="56" name="Text 54"/>
          <p:cNvSpPr/>
          <p:nvPr/>
        </p:nvSpPr>
        <p:spPr>
          <a:xfrm>
            <a:off x="566928" y="585216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Arun Teja Kamisetti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9C8B7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Aspiring AI Product Manager · Month 2026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D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931920" cy="6858000"/>
          </a:xfrm>
          <a:prstGeom prst="rect">
            <a:avLst/>
          </a:prstGeom>
          <a:solidFill>
            <a:srgbClr val="FF6A2B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5303520"/>
            <a:ext cx="45720" cy="4572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4" name="Shape 2"/>
          <p:cNvSpPr/>
          <p:nvPr/>
        </p:nvSpPr>
        <p:spPr>
          <a:xfrm>
            <a:off x="658368" y="5303520"/>
            <a:ext cx="45720" cy="4572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5" name="Shape 3"/>
          <p:cNvSpPr/>
          <p:nvPr/>
        </p:nvSpPr>
        <p:spPr>
          <a:xfrm>
            <a:off x="859536" y="5303520"/>
            <a:ext cx="45720" cy="4572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6" name="Shape 4"/>
          <p:cNvSpPr/>
          <p:nvPr/>
        </p:nvSpPr>
        <p:spPr>
          <a:xfrm>
            <a:off x="1060704" y="5303520"/>
            <a:ext cx="45720" cy="4572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7" name="Shape 5"/>
          <p:cNvSpPr/>
          <p:nvPr/>
        </p:nvSpPr>
        <p:spPr>
          <a:xfrm>
            <a:off x="1261872" y="5303520"/>
            <a:ext cx="45720" cy="4572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8" name="Shape 6"/>
          <p:cNvSpPr/>
          <p:nvPr/>
        </p:nvSpPr>
        <p:spPr>
          <a:xfrm>
            <a:off x="1463040" y="5303520"/>
            <a:ext cx="45720" cy="4572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9" name="Shape 7"/>
          <p:cNvSpPr/>
          <p:nvPr/>
        </p:nvSpPr>
        <p:spPr>
          <a:xfrm>
            <a:off x="1664208" y="5303520"/>
            <a:ext cx="45720" cy="4572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0" name="Shape 8"/>
          <p:cNvSpPr/>
          <p:nvPr/>
        </p:nvSpPr>
        <p:spPr>
          <a:xfrm>
            <a:off x="1865376" y="5303520"/>
            <a:ext cx="45720" cy="4572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1" name="Shape 9"/>
          <p:cNvSpPr/>
          <p:nvPr/>
        </p:nvSpPr>
        <p:spPr>
          <a:xfrm>
            <a:off x="457200" y="5504688"/>
            <a:ext cx="45720" cy="4572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2" name="Shape 10"/>
          <p:cNvSpPr/>
          <p:nvPr/>
        </p:nvSpPr>
        <p:spPr>
          <a:xfrm>
            <a:off x="658368" y="5504688"/>
            <a:ext cx="45720" cy="4572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3" name="Shape 11"/>
          <p:cNvSpPr/>
          <p:nvPr/>
        </p:nvSpPr>
        <p:spPr>
          <a:xfrm>
            <a:off x="859536" y="5504688"/>
            <a:ext cx="45720" cy="4572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4" name="Shape 12"/>
          <p:cNvSpPr/>
          <p:nvPr/>
        </p:nvSpPr>
        <p:spPr>
          <a:xfrm>
            <a:off x="1060704" y="5504688"/>
            <a:ext cx="45720" cy="4572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5" name="Shape 13"/>
          <p:cNvSpPr/>
          <p:nvPr/>
        </p:nvSpPr>
        <p:spPr>
          <a:xfrm>
            <a:off x="1261872" y="5504688"/>
            <a:ext cx="45720" cy="4572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6" name="Shape 14"/>
          <p:cNvSpPr/>
          <p:nvPr/>
        </p:nvSpPr>
        <p:spPr>
          <a:xfrm>
            <a:off x="1463040" y="5504688"/>
            <a:ext cx="45720" cy="4572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7" name="Shape 15"/>
          <p:cNvSpPr/>
          <p:nvPr/>
        </p:nvSpPr>
        <p:spPr>
          <a:xfrm>
            <a:off x="1664208" y="5504688"/>
            <a:ext cx="45720" cy="4572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8" name="Shape 16"/>
          <p:cNvSpPr/>
          <p:nvPr/>
        </p:nvSpPr>
        <p:spPr>
          <a:xfrm>
            <a:off x="1865376" y="5504688"/>
            <a:ext cx="45720" cy="4572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9" name="Shape 17"/>
          <p:cNvSpPr/>
          <p:nvPr/>
        </p:nvSpPr>
        <p:spPr>
          <a:xfrm>
            <a:off x="457200" y="5705856"/>
            <a:ext cx="45720" cy="4572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20" name="Shape 18"/>
          <p:cNvSpPr/>
          <p:nvPr/>
        </p:nvSpPr>
        <p:spPr>
          <a:xfrm>
            <a:off x="658368" y="5705856"/>
            <a:ext cx="45720" cy="4572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21" name="Shape 19"/>
          <p:cNvSpPr/>
          <p:nvPr/>
        </p:nvSpPr>
        <p:spPr>
          <a:xfrm>
            <a:off x="859536" y="5705856"/>
            <a:ext cx="45720" cy="4572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22" name="Shape 20"/>
          <p:cNvSpPr/>
          <p:nvPr/>
        </p:nvSpPr>
        <p:spPr>
          <a:xfrm>
            <a:off x="1060704" y="5705856"/>
            <a:ext cx="45720" cy="4572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23" name="Shape 21"/>
          <p:cNvSpPr/>
          <p:nvPr/>
        </p:nvSpPr>
        <p:spPr>
          <a:xfrm>
            <a:off x="1261872" y="5705856"/>
            <a:ext cx="45720" cy="4572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24" name="Shape 22"/>
          <p:cNvSpPr/>
          <p:nvPr/>
        </p:nvSpPr>
        <p:spPr>
          <a:xfrm>
            <a:off x="1463040" y="5705856"/>
            <a:ext cx="45720" cy="4572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25" name="Shape 23"/>
          <p:cNvSpPr/>
          <p:nvPr/>
        </p:nvSpPr>
        <p:spPr>
          <a:xfrm>
            <a:off x="1664208" y="5705856"/>
            <a:ext cx="45720" cy="4572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26" name="Shape 24"/>
          <p:cNvSpPr/>
          <p:nvPr/>
        </p:nvSpPr>
        <p:spPr>
          <a:xfrm>
            <a:off x="1865376" y="5705856"/>
            <a:ext cx="45720" cy="4572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27" name="Shape 25"/>
          <p:cNvSpPr/>
          <p:nvPr/>
        </p:nvSpPr>
        <p:spPr>
          <a:xfrm>
            <a:off x="457200" y="5907024"/>
            <a:ext cx="45720" cy="4572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28" name="Shape 26"/>
          <p:cNvSpPr/>
          <p:nvPr/>
        </p:nvSpPr>
        <p:spPr>
          <a:xfrm>
            <a:off x="658368" y="5907024"/>
            <a:ext cx="45720" cy="4572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29" name="Shape 27"/>
          <p:cNvSpPr/>
          <p:nvPr/>
        </p:nvSpPr>
        <p:spPr>
          <a:xfrm>
            <a:off x="859536" y="5907024"/>
            <a:ext cx="45720" cy="4572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30" name="Shape 28"/>
          <p:cNvSpPr/>
          <p:nvPr/>
        </p:nvSpPr>
        <p:spPr>
          <a:xfrm>
            <a:off x="1060704" y="5907024"/>
            <a:ext cx="45720" cy="4572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31" name="Shape 29"/>
          <p:cNvSpPr/>
          <p:nvPr/>
        </p:nvSpPr>
        <p:spPr>
          <a:xfrm>
            <a:off x="1261872" y="5907024"/>
            <a:ext cx="45720" cy="4572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32" name="Shape 30"/>
          <p:cNvSpPr/>
          <p:nvPr/>
        </p:nvSpPr>
        <p:spPr>
          <a:xfrm>
            <a:off x="1463040" y="5907024"/>
            <a:ext cx="45720" cy="4572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33" name="Shape 31"/>
          <p:cNvSpPr/>
          <p:nvPr/>
        </p:nvSpPr>
        <p:spPr>
          <a:xfrm>
            <a:off x="1664208" y="5907024"/>
            <a:ext cx="45720" cy="4572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34" name="Shape 32"/>
          <p:cNvSpPr/>
          <p:nvPr/>
        </p:nvSpPr>
        <p:spPr>
          <a:xfrm>
            <a:off x="1865376" y="5907024"/>
            <a:ext cx="45720" cy="4572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35" name="Text 33"/>
          <p:cNvSpPr/>
          <p:nvPr/>
        </p:nvSpPr>
        <p:spPr>
          <a:xfrm>
            <a:off x="502920" y="64008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300" kern="0" dirty="0">
                <a:solidFill>
                  <a:srgbClr val="FFFFFF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CASE STUDY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457200" y="3108960"/>
            <a:ext cx="30175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0" b="1" dirty="0">
                <a:solidFill>
                  <a:srgbClr val="FFFFFF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01</a:t>
            </a:r>
            <a:endParaRPr lang="en-US" sz="12000" dirty="0"/>
          </a:p>
        </p:txBody>
      </p:sp>
      <p:sp>
        <p:nvSpPr>
          <p:cNvPr id="37" name="Text 35"/>
          <p:cNvSpPr/>
          <p:nvPr/>
        </p:nvSpPr>
        <p:spPr>
          <a:xfrm>
            <a:off x="4389120" y="2194560"/>
            <a:ext cx="73152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4200" b="1" dirty="0">
                <a:solidFill>
                  <a:srgbClr val="241B14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Cover B — Light</a:t>
            </a:r>
            <a:endParaRPr lang="en-US" sz="4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4200" b="1" dirty="0">
                <a:solidFill>
                  <a:srgbClr val="241B14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with side accent</a:t>
            </a:r>
            <a:endParaRPr lang="en-US" sz="4200" dirty="0"/>
          </a:p>
        </p:txBody>
      </p:sp>
      <p:sp>
        <p:nvSpPr>
          <p:cNvPr id="38" name="Text 36"/>
          <p:cNvSpPr/>
          <p:nvPr/>
        </p:nvSpPr>
        <p:spPr>
          <a:xfrm>
            <a:off x="4389120" y="3931920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C4A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clean two-tone cover for case studies and project decks.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4389120" y="59436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41B1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Arun Teja Kamisetti  ·  aspiring AI PM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ED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86120" y="2286000"/>
            <a:ext cx="219456" cy="219456"/>
          </a:xfrm>
          <a:prstGeom prst="ellipse">
            <a:avLst/>
          </a:prstGeom>
          <a:solidFill>
            <a:srgbClr val="FF6A2B"/>
          </a:solidFill>
          <a:ln/>
        </p:spPr>
      </p:sp>
      <p:sp>
        <p:nvSpPr>
          <p:cNvPr id="3" name="Text 1"/>
          <p:cNvSpPr/>
          <p:nvPr/>
        </p:nvSpPr>
        <p:spPr>
          <a:xfrm>
            <a:off x="0" y="2697480"/>
            <a:ext cx="121916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spc="400" kern="0" dirty="0">
                <a:solidFill>
                  <a:srgbClr val="FF6A2B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THE QUARTERLY REVIEW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0" y="3063240"/>
            <a:ext cx="1219169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241B14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Minimal, Centered Cover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0" y="4023360"/>
            <a:ext cx="121916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C4A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For executive updates and internal reviews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724248" y="4709160"/>
            <a:ext cx="2743200" cy="0"/>
          </a:xfrm>
          <a:prstGeom prst="line">
            <a:avLst/>
          </a:prstGeom>
          <a:noFill/>
          <a:ln w="12700">
            <a:solidFill>
              <a:srgbClr val="CDBBA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0" y="4846320"/>
            <a:ext cx="121916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C8B7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Arun Teja Kamisetti  ·  2026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D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75488"/>
            <a:ext cx="146304" cy="146304"/>
          </a:xfrm>
          <a:prstGeom prst="ellipse">
            <a:avLst/>
          </a:prstGeom>
          <a:solidFill>
            <a:srgbClr val="FF6A2B"/>
          </a:solidFill>
          <a:ln/>
        </p:spPr>
      </p:sp>
      <p:sp>
        <p:nvSpPr>
          <p:cNvPr id="3" name="Text 1"/>
          <p:cNvSpPr/>
          <p:nvPr/>
        </p:nvSpPr>
        <p:spPr>
          <a:xfrm>
            <a:off x="804672" y="402336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6A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CONTENTS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66928" y="713232"/>
            <a:ext cx="11057839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41B14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What we'll cover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66928" y="1426464"/>
            <a:ext cx="11057839" cy="0"/>
          </a:xfrm>
          <a:prstGeom prst="line">
            <a:avLst/>
          </a:prstGeom>
          <a:noFill/>
          <a:ln w="12700">
            <a:solidFill>
              <a:srgbClr val="E3D6C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1783080"/>
            <a:ext cx="11057839" cy="786384"/>
          </a:xfrm>
          <a:prstGeom prst="rect">
            <a:avLst/>
          </a:prstGeom>
          <a:solidFill>
            <a:srgbClr val="FFFFFF"/>
          </a:solidFill>
          <a:ln w="12700">
            <a:solidFill>
              <a:srgbClr val="E3D6C2"/>
            </a:solidFill>
            <a:prstDash val="solid"/>
          </a:ln>
          <a:effectLst>
            <a:outerShdw sx="100000" sy="100000" kx="0" ky="0" algn="bl" rotWithShape="0" blurRad="88900" dist="38100" dir="8100000">
              <a:srgbClr val="241B14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66928" y="1783080"/>
            <a:ext cx="73152" cy="786384"/>
          </a:xfrm>
          <a:prstGeom prst="rect">
            <a:avLst/>
          </a:prstGeom>
          <a:solidFill>
            <a:srgbClr val="FF6A2B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1892808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CDBBA0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01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1938528" y="1911096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41B14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Context &amp; problem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938528" y="22402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C4A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Where we are and why it matters now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10161727" y="2039112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C8B77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Page 3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66928" y="2697480"/>
            <a:ext cx="11057839" cy="786384"/>
          </a:xfrm>
          <a:prstGeom prst="rect">
            <a:avLst/>
          </a:prstGeom>
          <a:solidFill>
            <a:srgbClr val="FFFFFF"/>
          </a:solidFill>
          <a:ln w="12700">
            <a:solidFill>
              <a:srgbClr val="E3D6C2"/>
            </a:solidFill>
            <a:prstDash val="solid"/>
          </a:ln>
          <a:effectLst>
            <a:outerShdw sx="100000" sy="100000" kx="0" ky="0" algn="bl" rotWithShape="0" blurRad="88900" dist="38100" dir="8100000">
              <a:srgbClr val="241B14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566928" y="2697480"/>
            <a:ext cx="73152" cy="786384"/>
          </a:xfrm>
          <a:prstGeom prst="rect">
            <a:avLst/>
          </a:prstGeom>
          <a:solidFill>
            <a:srgbClr val="5FAE7E"/>
          </a:solidFill>
          <a:ln/>
        </p:spPr>
      </p:sp>
      <p:sp>
        <p:nvSpPr>
          <p:cNvPr id="14" name="Text 12"/>
          <p:cNvSpPr/>
          <p:nvPr/>
        </p:nvSpPr>
        <p:spPr>
          <a:xfrm>
            <a:off x="822960" y="2807208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CDBBA0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02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1938528" y="2825496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41B14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Market &amp; customer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938528" y="31546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C4A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Segments, needs, and the opportunity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10161727" y="2953512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C8B77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Page 6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66928" y="3611880"/>
            <a:ext cx="11057839" cy="786384"/>
          </a:xfrm>
          <a:prstGeom prst="rect">
            <a:avLst/>
          </a:prstGeom>
          <a:solidFill>
            <a:srgbClr val="FFFFFF"/>
          </a:solidFill>
          <a:ln w="12700">
            <a:solidFill>
              <a:srgbClr val="E3D6C2"/>
            </a:solidFill>
            <a:prstDash val="solid"/>
          </a:ln>
          <a:effectLst>
            <a:outerShdw sx="100000" sy="100000" kx="0" ky="0" algn="bl" rotWithShape="0" blurRad="88900" dist="38100" dir="8100000">
              <a:srgbClr val="241B14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566928" y="3611880"/>
            <a:ext cx="73152" cy="786384"/>
          </a:xfrm>
          <a:prstGeom prst="rect">
            <a:avLst/>
          </a:prstGeom>
          <a:solidFill>
            <a:srgbClr val="7A5C8E"/>
          </a:solidFill>
          <a:ln/>
        </p:spPr>
      </p:sp>
      <p:sp>
        <p:nvSpPr>
          <p:cNvPr id="20" name="Text 18"/>
          <p:cNvSpPr/>
          <p:nvPr/>
        </p:nvSpPr>
        <p:spPr>
          <a:xfrm>
            <a:off x="822960" y="3721608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CDBBA0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03</a:t>
            </a:r>
            <a:endParaRPr lang="en-US" sz="3000" dirty="0"/>
          </a:p>
        </p:txBody>
      </p:sp>
      <p:sp>
        <p:nvSpPr>
          <p:cNvPr id="21" name="Text 19"/>
          <p:cNvSpPr/>
          <p:nvPr/>
        </p:nvSpPr>
        <p:spPr>
          <a:xfrm>
            <a:off x="1938528" y="3739896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41B14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Strategy &amp; options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938528" y="4069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C4A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Frameworks, trade-offs, and our bet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10161727" y="3867912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C8B77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Page 9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566928" y="4526280"/>
            <a:ext cx="11057839" cy="786384"/>
          </a:xfrm>
          <a:prstGeom prst="rect">
            <a:avLst/>
          </a:prstGeom>
          <a:solidFill>
            <a:srgbClr val="FFFFFF"/>
          </a:solidFill>
          <a:ln w="12700">
            <a:solidFill>
              <a:srgbClr val="E3D6C2"/>
            </a:solidFill>
            <a:prstDash val="solid"/>
          </a:ln>
          <a:effectLst>
            <a:outerShdw sx="100000" sy="100000" kx="0" ky="0" algn="bl" rotWithShape="0" blurRad="88900" dist="38100" dir="8100000">
              <a:srgbClr val="241B14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566928" y="4526280"/>
            <a:ext cx="73152" cy="786384"/>
          </a:xfrm>
          <a:prstGeom prst="rect">
            <a:avLst/>
          </a:prstGeom>
          <a:solidFill>
            <a:srgbClr val="E0A53C"/>
          </a:solidFill>
          <a:ln/>
        </p:spPr>
      </p:sp>
      <p:sp>
        <p:nvSpPr>
          <p:cNvPr id="26" name="Text 24"/>
          <p:cNvSpPr/>
          <p:nvPr/>
        </p:nvSpPr>
        <p:spPr>
          <a:xfrm>
            <a:off x="822960" y="4636008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CDBBA0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04</a:t>
            </a:r>
            <a:endParaRPr lang="en-US" sz="3000" dirty="0"/>
          </a:p>
        </p:txBody>
      </p:sp>
      <p:sp>
        <p:nvSpPr>
          <p:cNvPr id="27" name="Text 25"/>
          <p:cNvSpPr/>
          <p:nvPr/>
        </p:nvSpPr>
        <p:spPr>
          <a:xfrm>
            <a:off x="1938528" y="4654296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41B14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Plan &amp; roadmap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1938528" y="49834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C4A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Sequencing, milestones, and owners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10161727" y="4782312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C8B77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Page 12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566928" y="5440680"/>
            <a:ext cx="11057839" cy="786384"/>
          </a:xfrm>
          <a:prstGeom prst="rect">
            <a:avLst/>
          </a:prstGeom>
          <a:solidFill>
            <a:srgbClr val="FFFFFF"/>
          </a:solidFill>
          <a:ln w="12700">
            <a:solidFill>
              <a:srgbClr val="E3D6C2"/>
            </a:solidFill>
            <a:prstDash val="solid"/>
          </a:ln>
          <a:effectLst>
            <a:outerShdw sx="100000" sy="100000" kx="0" ky="0" algn="bl" rotWithShape="0" blurRad="88900" dist="38100" dir="8100000">
              <a:srgbClr val="241B14">
                <a:alpha val="12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566928" y="5440680"/>
            <a:ext cx="73152" cy="786384"/>
          </a:xfrm>
          <a:prstGeom prst="rect">
            <a:avLst/>
          </a:prstGeom>
          <a:solidFill>
            <a:srgbClr val="FF6A2B"/>
          </a:solidFill>
          <a:ln/>
        </p:spPr>
      </p:sp>
      <p:sp>
        <p:nvSpPr>
          <p:cNvPr id="32" name="Text 30"/>
          <p:cNvSpPr/>
          <p:nvPr/>
        </p:nvSpPr>
        <p:spPr>
          <a:xfrm>
            <a:off x="822960" y="5550408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CDBBA0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05</a:t>
            </a:r>
            <a:endParaRPr lang="en-US" sz="3000" dirty="0"/>
          </a:p>
        </p:txBody>
      </p:sp>
      <p:sp>
        <p:nvSpPr>
          <p:cNvPr id="33" name="Text 31"/>
          <p:cNvSpPr/>
          <p:nvPr/>
        </p:nvSpPr>
        <p:spPr>
          <a:xfrm>
            <a:off x="1938528" y="5568696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41B14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Impact &amp; ask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1938528" y="58978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C4A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Expected outcomes and the decision needed</a:t>
            </a:r>
            <a:endParaRPr lang="en-US" sz="1150" dirty="0"/>
          </a:p>
        </p:txBody>
      </p:sp>
      <p:sp>
        <p:nvSpPr>
          <p:cNvPr id="35" name="Text 33"/>
          <p:cNvSpPr/>
          <p:nvPr/>
        </p:nvSpPr>
        <p:spPr>
          <a:xfrm>
            <a:off x="10161727" y="5696712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C8B77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Page 15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566928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C8B7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Arun Teja Kamisetti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10710367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8B77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01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7A5C8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5120640"/>
            <a:ext cx="45720" cy="45720"/>
          </a:xfrm>
          <a:prstGeom prst="ellipse">
            <a:avLst/>
          </a:prstGeom>
          <a:solidFill>
            <a:srgbClr val="9A7FB0"/>
          </a:solidFill>
          <a:ln/>
        </p:spPr>
      </p:sp>
      <p:sp>
        <p:nvSpPr>
          <p:cNvPr id="3" name="Shape 1"/>
          <p:cNvSpPr/>
          <p:nvPr/>
        </p:nvSpPr>
        <p:spPr>
          <a:xfrm>
            <a:off x="9893808" y="5120640"/>
            <a:ext cx="45720" cy="45720"/>
          </a:xfrm>
          <a:prstGeom prst="ellipse">
            <a:avLst/>
          </a:prstGeom>
          <a:solidFill>
            <a:srgbClr val="9A7FB0"/>
          </a:solidFill>
          <a:ln/>
        </p:spPr>
      </p:sp>
      <p:sp>
        <p:nvSpPr>
          <p:cNvPr id="4" name="Shape 2"/>
          <p:cNvSpPr/>
          <p:nvPr/>
        </p:nvSpPr>
        <p:spPr>
          <a:xfrm>
            <a:off x="10094976" y="5120640"/>
            <a:ext cx="45720" cy="45720"/>
          </a:xfrm>
          <a:prstGeom prst="ellipse">
            <a:avLst/>
          </a:prstGeom>
          <a:solidFill>
            <a:srgbClr val="9A7FB0"/>
          </a:solidFill>
          <a:ln/>
        </p:spPr>
      </p:sp>
      <p:sp>
        <p:nvSpPr>
          <p:cNvPr id="5" name="Shape 3"/>
          <p:cNvSpPr/>
          <p:nvPr/>
        </p:nvSpPr>
        <p:spPr>
          <a:xfrm>
            <a:off x="10296144" y="5120640"/>
            <a:ext cx="45720" cy="45720"/>
          </a:xfrm>
          <a:prstGeom prst="ellipse">
            <a:avLst/>
          </a:prstGeom>
          <a:solidFill>
            <a:srgbClr val="9A7FB0"/>
          </a:solidFill>
          <a:ln/>
        </p:spPr>
      </p:sp>
      <p:sp>
        <p:nvSpPr>
          <p:cNvPr id="6" name="Shape 4"/>
          <p:cNvSpPr/>
          <p:nvPr/>
        </p:nvSpPr>
        <p:spPr>
          <a:xfrm>
            <a:off x="10497312" y="5120640"/>
            <a:ext cx="45720" cy="45720"/>
          </a:xfrm>
          <a:prstGeom prst="ellipse">
            <a:avLst/>
          </a:prstGeom>
          <a:solidFill>
            <a:srgbClr val="9A7FB0"/>
          </a:solidFill>
          <a:ln/>
        </p:spPr>
      </p:sp>
      <p:sp>
        <p:nvSpPr>
          <p:cNvPr id="7" name="Shape 5"/>
          <p:cNvSpPr/>
          <p:nvPr/>
        </p:nvSpPr>
        <p:spPr>
          <a:xfrm>
            <a:off x="10698480" y="5120640"/>
            <a:ext cx="45720" cy="45720"/>
          </a:xfrm>
          <a:prstGeom prst="ellipse">
            <a:avLst/>
          </a:prstGeom>
          <a:solidFill>
            <a:srgbClr val="9A7FB0"/>
          </a:solidFill>
          <a:ln/>
        </p:spPr>
      </p:sp>
      <p:sp>
        <p:nvSpPr>
          <p:cNvPr id="8" name="Shape 6"/>
          <p:cNvSpPr/>
          <p:nvPr/>
        </p:nvSpPr>
        <p:spPr>
          <a:xfrm>
            <a:off x="10899648" y="5120640"/>
            <a:ext cx="45720" cy="45720"/>
          </a:xfrm>
          <a:prstGeom prst="ellipse">
            <a:avLst/>
          </a:prstGeom>
          <a:solidFill>
            <a:srgbClr val="9A7FB0"/>
          </a:solidFill>
          <a:ln/>
        </p:spPr>
      </p:sp>
      <p:sp>
        <p:nvSpPr>
          <p:cNvPr id="9" name="Shape 7"/>
          <p:cNvSpPr/>
          <p:nvPr/>
        </p:nvSpPr>
        <p:spPr>
          <a:xfrm>
            <a:off x="11100816" y="5120640"/>
            <a:ext cx="45720" cy="45720"/>
          </a:xfrm>
          <a:prstGeom prst="ellipse">
            <a:avLst/>
          </a:prstGeom>
          <a:solidFill>
            <a:srgbClr val="9A7FB0"/>
          </a:solidFill>
          <a:ln/>
        </p:spPr>
      </p:sp>
      <p:sp>
        <p:nvSpPr>
          <p:cNvPr id="10" name="Shape 8"/>
          <p:cNvSpPr/>
          <p:nvPr/>
        </p:nvSpPr>
        <p:spPr>
          <a:xfrm>
            <a:off x="11301984" y="5120640"/>
            <a:ext cx="45720" cy="45720"/>
          </a:xfrm>
          <a:prstGeom prst="ellipse">
            <a:avLst/>
          </a:prstGeom>
          <a:solidFill>
            <a:srgbClr val="9A7FB0"/>
          </a:solidFill>
          <a:ln/>
        </p:spPr>
      </p:sp>
      <p:sp>
        <p:nvSpPr>
          <p:cNvPr id="11" name="Shape 9"/>
          <p:cNvSpPr/>
          <p:nvPr/>
        </p:nvSpPr>
        <p:spPr>
          <a:xfrm>
            <a:off x="11503152" y="5120640"/>
            <a:ext cx="45720" cy="45720"/>
          </a:xfrm>
          <a:prstGeom prst="ellipse">
            <a:avLst/>
          </a:prstGeom>
          <a:solidFill>
            <a:srgbClr val="9A7FB0"/>
          </a:solidFill>
          <a:ln/>
        </p:spPr>
      </p:sp>
      <p:sp>
        <p:nvSpPr>
          <p:cNvPr id="12" name="Shape 10"/>
          <p:cNvSpPr/>
          <p:nvPr/>
        </p:nvSpPr>
        <p:spPr>
          <a:xfrm>
            <a:off x="9692640" y="5321808"/>
            <a:ext cx="45720" cy="45720"/>
          </a:xfrm>
          <a:prstGeom prst="ellipse">
            <a:avLst/>
          </a:prstGeom>
          <a:solidFill>
            <a:srgbClr val="9A7FB0"/>
          </a:solidFill>
          <a:ln/>
        </p:spPr>
      </p:sp>
      <p:sp>
        <p:nvSpPr>
          <p:cNvPr id="13" name="Shape 11"/>
          <p:cNvSpPr/>
          <p:nvPr/>
        </p:nvSpPr>
        <p:spPr>
          <a:xfrm>
            <a:off x="9893808" y="5321808"/>
            <a:ext cx="45720" cy="45720"/>
          </a:xfrm>
          <a:prstGeom prst="ellipse">
            <a:avLst/>
          </a:prstGeom>
          <a:solidFill>
            <a:srgbClr val="9A7FB0"/>
          </a:solidFill>
          <a:ln/>
        </p:spPr>
      </p:sp>
      <p:sp>
        <p:nvSpPr>
          <p:cNvPr id="14" name="Shape 12"/>
          <p:cNvSpPr/>
          <p:nvPr/>
        </p:nvSpPr>
        <p:spPr>
          <a:xfrm>
            <a:off x="10094976" y="5321808"/>
            <a:ext cx="45720" cy="45720"/>
          </a:xfrm>
          <a:prstGeom prst="ellipse">
            <a:avLst/>
          </a:prstGeom>
          <a:solidFill>
            <a:srgbClr val="9A7FB0"/>
          </a:solidFill>
          <a:ln/>
        </p:spPr>
      </p:sp>
      <p:sp>
        <p:nvSpPr>
          <p:cNvPr id="15" name="Shape 13"/>
          <p:cNvSpPr/>
          <p:nvPr/>
        </p:nvSpPr>
        <p:spPr>
          <a:xfrm>
            <a:off x="10296144" y="5321808"/>
            <a:ext cx="45720" cy="45720"/>
          </a:xfrm>
          <a:prstGeom prst="ellipse">
            <a:avLst/>
          </a:prstGeom>
          <a:solidFill>
            <a:srgbClr val="9A7FB0"/>
          </a:solidFill>
          <a:ln/>
        </p:spPr>
      </p:sp>
      <p:sp>
        <p:nvSpPr>
          <p:cNvPr id="16" name="Shape 14"/>
          <p:cNvSpPr/>
          <p:nvPr/>
        </p:nvSpPr>
        <p:spPr>
          <a:xfrm>
            <a:off x="10497312" y="5321808"/>
            <a:ext cx="45720" cy="45720"/>
          </a:xfrm>
          <a:prstGeom prst="ellipse">
            <a:avLst/>
          </a:prstGeom>
          <a:solidFill>
            <a:srgbClr val="9A7FB0"/>
          </a:solidFill>
          <a:ln/>
        </p:spPr>
      </p:sp>
      <p:sp>
        <p:nvSpPr>
          <p:cNvPr id="17" name="Shape 15"/>
          <p:cNvSpPr/>
          <p:nvPr/>
        </p:nvSpPr>
        <p:spPr>
          <a:xfrm>
            <a:off x="10698480" y="5321808"/>
            <a:ext cx="45720" cy="45720"/>
          </a:xfrm>
          <a:prstGeom prst="ellipse">
            <a:avLst/>
          </a:prstGeom>
          <a:solidFill>
            <a:srgbClr val="9A7FB0"/>
          </a:solidFill>
          <a:ln/>
        </p:spPr>
      </p:sp>
      <p:sp>
        <p:nvSpPr>
          <p:cNvPr id="18" name="Shape 16"/>
          <p:cNvSpPr/>
          <p:nvPr/>
        </p:nvSpPr>
        <p:spPr>
          <a:xfrm>
            <a:off x="10899648" y="5321808"/>
            <a:ext cx="45720" cy="45720"/>
          </a:xfrm>
          <a:prstGeom prst="ellipse">
            <a:avLst/>
          </a:prstGeom>
          <a:solidFill>
            <a:srgbClr val="9A7FB0"/>
          </a:solidFill>
          <a:ln/>
        </p:spPr>
      </p:sp>
      <p:sp>
        <p:nvSpPr>
          <p:cNvPr id="19" name="Shape 17"/>
          <p:cNvSpPr/>
          <p:nvPr/>
        </p:nvSpPr>
        <p:spPr>
          <a:xfrm>
            <a:off x="11100816" y="5321808"/>
            <a:ext cx="45720" cy="45720"/>
          </a:xfrm>
          <a:prstGeom prst="ellipse">
            <a:avLst/>
          </a:prstGeom>
          <a:solidFill>
            <a:srgbClr val="9A7FB0"/>
          </a:solidFill>
          <a:ln/>
        </p:spPr>
      </p:sp>
      <p:sp>
        <p:nvSpPr>
          <p:cNvPr id="20" name="Shape 18"/>
          <p:cNvSpPr/>
          <p:nvPr/>
        </p:nvSpPr>
        <p:spPr>
          <a:xfrm>
            <a:off x="11301984" y="5321808"/>
            <a:ext cx="45720" cy="45720"/>
          </a:xfrm>
          <a:prstGeom prst="ellipse">
            <a:avLst/>
          </a:prstGeom>
          <a:solidFill>
            <a:srgbClr val="9A7FB0"/>
          </a:solidFill>
          <a:ln/>
        </p:spPr>
      </p:sp>
      <p:sp>
        <p:nvSpPr>
          <p:cNvPr id="21" name="Shape 19"/>
          <p:cNvSpPr/>
          <p:nvPr/>
        </p:nvSpPr>
        <p:spPr>
          <a:xfrm>
            <a:off x="11503152" y="5321808"/>
            <a:ext cx="45720" cy="45720"/>
          </a:xfrm>
          <a:prstGeom prst="ellipse">
            <a:avLst/>
          </a:prstGeom>
          <a:solidFill>
            <a:srgbClr val="9A7FB0"/>
          </a:solidFill>
          <a:ln/>
        </p:spPr>
      </p:sp>
      <p:sp>
        <p:nvSpPr>
          <p:cNvPr id="22" name="Shape 20"/>
          <p:cNvSpPr/>
          <p:nvPr/>
        </p:nvSpPr>
        <p:spPr>
          <a:xfrm>
            <a:off x="9692640" y="5522976"/>
            <a:ext cx="45720" cy="45720"/>
          </a:xfrm>
          <a:prstGeom prst="ellipse">
            <a:avLst/>
          </a:prstGeom>
          <a:solidFill>
            <a:srgbClr val="9A7FB0"/>
          </a:solidFill>
          <a:ln/>
        </p:spPr>
      </p:sp>
      <p:sp>
        <p:nvSpPr>
          <p:cNvPr id="23" name="Shape 21"/>
          <p:cNvSpPr/>
          <p:nvPr/>
        </p:nvSpPr>
        <p:spPr>
          <a:xfrm>
            <a:off x="9893808" y="5522976"/>
            <a:ext cx="45720" cy="45720"/>
          </a:xfrm>
          <a:prstGeom prst="ellipse">
            <a:avLst/>
          </a:prstGeom>
          <a:solidFill>
            <a:srgbClr val="9A7FB0"/>
          </a:solidFill>
          <a:ln/>
        </p:spPr>
      </p:sp>
      <p:sp>
        <p:nvSpPr>
          <p:cNvPr id="24" name="Shape 22"/>
          <p:cNvSpPr/>
          <p:nvPr/>
        </p:nvSpPr>
        <p:spPr>
          <a:xfrm>
            <a:off x="10094976" y="5522976"/>
            <a:ext cx="45720" cy="45720"/>
          </a:xfrm>
          <a:prstGeom prst="ellipse">
            <a:avLst/>
          </a:prstGeom>
          <a:solidFill>
            <a:srgbClr val="9A7FB0"/>
          </a:solidFill>
          <a:ln/>
        </p:spPr>
      </p:sp>
      <p:sp>
        <p:nvSpPr>
          <p:cNvPr id="25" name="Shape 23"/>
          <p:cNvSpPr/>
          <p:nvPr/>
        </p:nvSpPr>
        <p:spPr>
          <a:xfrm>
            <a:off x="10296144" y="5522976"/>
            <a:ext cx="45720" cy="45720"/>
          </a:xfrm>
          <a:prstGeom prst="ellipse">
            <a:avLst/>
          </a:prstGeom>
          <a:solidFill>
            <a:srgbClr val="9A7FB0"/>
          </a:solidFill>
          <a:ln/>
        </p:spPr>
      </p:sp>
      <p:sp>
        <p:nvSpPr>
          <p:cNvPr id="26" name="Shape 24"/>
          <p:cNvSpPr/>
          <p:nvPr/>
        </p:nvSpPr>
        <p:spPr>
          <a:xfrm>
            <a:off x="10497312" y="5522976"/>
            <a:ext cx="45720" cy="45720"/>
          </a:xfrm>
          <a:prstGeom prst="ellipse">
            <a:avLst/>
          </a:prstGeom>
          <a:solidFill>
            <a:srgbClr val="9A7FB0"/>
          </a:solidFill>
          <a:ln/>
        </p:spPr>
      </p:sp>
      <p:sp>
        <p:nvSpPr>
          <p:cNvPr id="27" name="Shape 25"/>
          <p:cNvSpPr/>
          <p:nvPr/>
        </p:nvSpPr>
        <p:spPr>
          <a:xfrm>
            <a:off x="10698480" y="5522976"/>
            <a:ext cx="45720" cy="45720"/>
          </a:xfrm>
          <a:prstGeom prst="ellipse">
            <a:avLst/>
          </a:prstGeom>
          <a:solidFill>
            <a:srgbClr val="9A7FB0"/>
          </a:solidFill>
          <a:ln/>
        </p:spPr>
      </p:sp>
      <p:sp>
        <p:nvSpPr>
          <p:cNvPr id="28" name="Shape 26"/>
          <p:cNvSpPr/>
          <p:nvPr/>
        </p:nvSpPr>
        <p:spPr>
          <a:xfrm>
            <a:off x="10899648" y="5522976"/>
            <a:ext cx="45720" cy="45720"/>
          </a:xfrm>
          <a:prstGeom prst="ellipse">
            <a:avLst/>
          </a:prstGeom>
          <a:solidFill>
            <a:srgbClr val="9A7FB0"/>
          </a:solidFill>
          <a:ln/>
        </p:spPr>
      </p:sp>
      <p:sp>
        <p:nvSpPr>
          <p:cNvPr id="29" name="Shape 27"/>
          <p:cNvSpPr/>
          <p:nvPr/>
        </p:nvSpPr>
        <p:spPr>
          <a:xfrm>
            <a:off x="11100816" y="5522976"/>
            <a:ext cx="45720" cy="45720"/>
          </a:xfrm>
          <a:prstGeom prst="ellipse">
            <a:avLst/>
          </a:prstGeom>
          <a:solidFill>
            <a:srgbClr val="9A7FB0"/>
          </a:solidFill>
          <a:ln/>
        </p:spPr>
      </p:sp>
      <p:sp>
        <p:nvSpPr>
          <p:cNvPr id="30" name="Shape 28"/>
          <p:cNvSpPr/>
          <p:nvPr/>
        </p:nvSpPr>
        <p:spPr>
          <a:xfrm>
            <a:off x="11301984" y="5522976"/>
            <a:ext cx="45720" cy="45720"/>
          </a:xfrm>
          <a:prstGeom prst="ellipse">
            <a:avLst/>
          </a:prstGeom>
          <a:solidFill>
            <a:srgbClr val="9A7FB0"/>
          </a:solidFill>
          <a:ln/>
        </p:spPr>
      </p:sp>
      <p:sp>
        <p:nvSpPr>
          <p:cNvPr id="31" name="Shape 29"/>
          <p:cNvSpPr/>
          <p:nvPr/>
        </p:nvSpPr>
        <p:spPr>
          <a:xfrm>
            <a:off x="11503152" y="5522976"/>
            <a:ext cx="45720" cy="45720"/>
          </a:xfrm>
          <a:prstGeom prst="ellipse">
            <a:avLst/>
          </a:prstGeom>
          <a:solidFill>
            <a:srgbClr val="9A7FB0"/>
          </a:solidFill>
          <a:ln/>
        </p:spPr>
      </p:sp>
      <p:sp>
        <p:nvSpPr>
          <p:cNvPr id="32" name="Shape 30"/>
          <p:cNvSpPr/>
          <p:nvPr/>
        </p:nvSpPr>
        <p:spPr>
          <a:xfrm>
            <a:off x="9692640" y="5724144"/>
            <a:ext cx="45720" cy="45720"/>
          </a:xfrm>
          <a:prstGeom prst="ellipse">
            <a:avLst/>
          </a:prstGeom>
          <a:solidFill>
            <a:srgbClr val="9A7FB0"/>
          </a:solidFill>
          <a:ln/>
        </p:spPr>
      </p:sp>
      <p:sp>
        <p:nvSpPr>
          <p:cNvPr id="33" name="Shape 31"/>
          <p:cNvSpPr/>
          <p:nvPr/>
        </p:nvSpPr>
        <p:spPr>
          <a:xfrm>
            <a:off x="9893808" y="5724144"/>
            <a:ext cx="45720" cy="45720"/>
          </a:xfrm>
          <a:prstGeom prst="ellipse">
            <a:avLst/>
          </a:prstGeom>
          <a:solidFill>
            <a:srgbClr val="9A7FB0"/>
          </a:solidFill>
          <a:ln/>
        </p:spPr>
      </p:sp>
      <p:sp>
        <p:nvSpPr>
          <p:cNvPr id="34" name="Shape 32"/>
          <p:cNvSpPr/>
          <p:nvPr/>
        </p:nvSpPr>
        <p:spPr>
          <a:xfrm>
            <a:off x="10094976" y="5724144"/>
            <a:ext cx="45720" cy="45720"/>
          </a:xfrm>
          <a:prstGeom prst="ellipse">
            <a:avLst/>
          </a:prstGeom>
          <a:solidFill>
            <a:srgbClr val="9A7FB0"/>
          </a:solidFill>
          <a:ln/>
        </p:spPr>
      </p:sp>
      <p:sp>
        <p:nvSpPr>
          <p:cNvPr id="35" name="Shape 33"/>
          <p:cNvSpPr/>
          <p:nvPr/>
        </p:nvSpPr>
        <p:spPr>
          <a:xfrm>
            <a:off x="10296144" y="5724144"/>
            <a:ext cx="45720" cy="45720"/>
          </a:xfrm>
          <a:prstGeom prst="ellipse">
            <a:avLst/>
          </a:prstGeom>
          <a:solidFill>
            <a:srgbClr val="9A7FB0"/>
          </a:solidFill>
          <a:ln/>
        </p:spPr>
      </p:sp>
      <p:sp>
        <p:nvSpPr>
          <p:cNvPr id="36" name="Shape 34"/>
          <p:cNvSpPr/>
          <p:nvPr/>
        </p:nvSpPr>
        <p:spPr>
          <a:xfrm>
            <a:off x="10497312" y="5724144"/>
            <a:ext cx="45720" cy="45720"/>
          </a:xfrm>
          <a:prstGeom prst="ellipse">
            <a:avLst/>
          </a:prstGeom>
          <a:solidFill>
            <a:srgbClr val="9A7FB0"/>
          </a:solidFill>
          <a:ln/>
        </p:spPr>
      </p:sp>
      <p:sp>
        <p:nvSpPr>
          <p:cNvPr id="37" name="Shape 35"/>
          <p:cNvSpPr/>
          <p:nvPr/>
        </p:nvSpPr>
        <p:spPr>
          <a:xfrm>
            <a:off x="10698480" y="5724144"/>
            <a:ext cx="45720" cy="45720"/>
          </a:xfrm>
          <a:prstGeom prst="ellipse">
            <a:avLst/>
          </a:prstGeom>
          <a:solidFill>
            <a:srgbClr val="9A7FB0"/>
          </a:solidFill>
          <a:ln/>
        </p:spPr>
      </p:sp>
      <p:sp>
        <p:nvSpPr>
          <p:cNvPr id="38" name="Shape 36"/>
          <p:cNvSpPr/>
          <p:nvPr/>
        </p:nvSpPr>
        <p:spPr>
          <a:xfrm>
            <a:off x="10899648" y="5724144"/>
            <a:ext cx="45720" cy="45720"/>
          </a:xfrm>
          <a:prstGeom prst="ellipse">
            <a:avLst/>
          </a:prstGeom>
          <a:solidFill>
            <a:srgbClr val="9A7FB0"/>
          </a:solidFill>
          <a:ln/>
        </p:spPr>
      </p:sp>
      <p:sp>
        <p:nvSpPr>
          <p:cNvPr id="39" name="Shape 37"/>
          <p:cNvSpPr/>
          <p:nvPr/>
        </p:nvSpPr>
        <p:spPr>
          <a:xfrm>
            <a:off x="11100816" y="5724144"/>
            <a:ext cx="45720" cy="45720"/>
          </a:xfrm>
          <a:prstGeom prst="ellipse">
            <a:avLst/>
          </a:prstGeom>
          <a:solidFill>
            <a:srgbClr val="9A7FB0"/>
          </a:solidFill>
          <a:ln/>
        </p:spPr>
      </p:sp>
      <p:sp>
        <p:nvSpPr>
          <p:cNvPr id="40" name="Shape 38"/>
          <p:cNvSpPr/>
          <p:nvPr/>
        </p:nvSpPr>
        <p:spPr>
          <a:xfrm>
            <a:off x="11301984" y="5724144"/>
            <a:ext cx="45720" cy="45720"/>
          </a:xfrm>
          <a:prstGeom prst="ellipse">
            <a:avLst/>
          </a:prstGeom>
          <a:solidFill>
            <a:srgbClr val="9A7FB0"/>
          </a:solidFill>
          <a:ln/>
        </p:spPr>
      </p:sp>
      <p:sp>
        <p:nvSpPr>
          <p:cNvPr id="41" name="Shape 39"/>
          <p:cNvSpPr/>
          <p:nvPr/>
        </p:nvSpPr>
        <p:spPr>
          <a:xfrm>
            <a:off x="11503152" y="5724144"/>
            <a:ext cx="45720" cy="45720"/>
          </a:xfrm>
          <a:prstGeom prst="ellipse">
            <a:avLst/>
          </a:prstGeom>
          <a:solidFill>
            <a:srgbClr val="9A7FB0"/>
          </a:solidFill>
          <a:ln/>
        </p:spPr>
      </p:sp>
      <p:sp>
        <p:nvSpPr>
          <p:cNvPr id="42" name="Shape 40"/>
          <p:cNvSpPr/>
          <p:nvPr/>
        </p:nvSpPr>
        <p:spPr>
          <a:xfrm>
            <a:off x="9692640" y="5925312"/>
            <a:ext cx="45720" cy="45720"/>
          </a:xfrm>
          <a:prstGeom prst="ellipse">
            <a:avLst/>
          </a:prstGeom>
          <a:solidFill>
            <a:srgbClr val="9A7FB0"/>
          </a:solidFill>
          <a:ln/>
        </p:spPr>
      </p:sp>
      <p:sp>
        <p:nvSpPr>
          <p:cNvPr id="43" name="Shape 41"/>
          <p:cNvSpPr/>
          <p:nvPr/>
        </p:nvSpPr>
        <p:spPr>
          <a:xfrm>
            <a:off x="9893808" y="5925312"/>
            <a:ext cx="45720" cy="45720"/>
          </a:xfrm>
          <a:prstGeom prst="ellipse">
            <a:avLst/>
          </a:prstGeom>
          <a:solidFill>
            <a:srgbClr val="9A7FB0"/>
          </a:solidFill>
          <a:ln/>
        </p:spPr>
      </p:sp>
      <p:sp>
        <p:nvSpPr>
          <p:cNvPr id="44" name="Shape 42"/>
          <p:cNvSpPr/>
          <p:nvPr/>
        </p:nvSpPr>
        <p:spPr>
          <a:xfrm>
            <a:off x="10094976" y="5925312"/>
            <a:ext cx="45720" cy="45720"/>
          </a:xfrm>
          <a:prstGeom prst="ellipse">
            <a:avLst/>
          </a:prstGeom>
          <a:solidFill>
            <a:srgbClr val="9A7FB0"/>
          </a:solidFill>
          <a:ln/>
        </p:spPr>
      </p:sp>
      <p:sp>
        <p:nvSpPr>
          <p:cNvPr id="45" name="Shape 43"/>
          <p:cNvSpPr/>
          <p:nvPr/>
        </p:nvSpPr>
        <p:spPr>
          <a:xfrm>
            <a:off x="10296144" y="5925312"/>
            <a:ext cx="45720" cy="45720"/>
          </a:xfrm>
          <a:prstGeom prst="ellipse">
            <a:avLst/>
          </a:prstGeom>
          <a:solidFill>
            <a:srgbClr val="9A7FB0"/>
          </a:solidFill>
          <a:ln/>
        </p:spPr>
      </p:sp>
      <p:sp>
        <p:nvSpPr>
          <p:cNvPr id="46" name="Shape 44"/>
          <p:cNvSpPr/>
          <p:nvPr/>
        </p:nvSpPr>
        <p:spPr>
          <a:xfrm>
            <a:off x="10497312" y="5925312"/>
            <a:ext cx="45720" cy="45720"/>
          </a:xfrm>
          <a:prstGeom prst="ellipse">
            <a:avLst/>
          </a:prstGeom>
          <a:solidFill>
            <a:srgbClr val="9A7FB0"/>
          </a:solidFill>
          <a:ln/>
        </p:spPr>
      </p:sp>
      <p:sp>
        <p:nvSpPr>
          <p:cNvPr id="47" name="Shape 45"/>
          <p:cNvSpPr/>
          <p:nvPr/>
        </p:nvSpPr>
        <p:spPr>
          <a:xfrm>
            <a:off x="10698480" y="5925312"/>
            <a:ext cx="45720" cy="45720"/>
          </a:xfrm>
          <a:prstGeom prst="ellipse">
            <a:avLst/>
          </a:prstGeom>
          <a:solidFill>
            <a:srgbClr val="9A7FB0"/>
          </a:solidFill>
          <a:ln/>
        </p:spPr>
      </p:sp>
      <p:sp>
        <p:nvSpPr>
          <p:cNvPr id="48" name="Shape 46"/>
          <p:cNvSpPr/>
          <p:nvPr/>
        </p:nvSpPr>
        <p:spPr>
          <a:xfrm>
            <a:off x="10899648" y="5925312"/>
            <a:ext cx="45720" cy="45720"/>
          </a:xfrm>
          <a:prstGeom prst="ellipse">
            <a:avLst/>
          </a:prstGeom>
          <a:solidFill>
            <a:srgbClr val="9A7FB0"/>
          </a:solidFill>
          <a:ln/>
        </p:spPr>
      </p:sp>
      <p:sp>
        <p:nvSpPr>
          <p:cNvPr id="49" name="Shape 47"/>
          <p:cNvSpPr/>
          <p:nvPr/>
        </p:nvSpPr>
        <p:spPr>
          <a:xfrm>
            <a:off x="11100816" y="5925312"/>
            <a:ext cx="45720" cy="45720"/>
          </a:xfrm>
          <a:prstGeom prst="ellipse">
            <a:avLst/>
          </a:prstGeom>
          <a:solidFill>
            <a:srgbClr val="9A7FB0"/>
          </a:solidFill>
          <a:ln/>
        </p:spPr>
      </p:sp>
      <p:sp>
        <p:nvSpPr>
          <p:cNvPr id="50" name="Shape 48"/>
          <p:cNvSpPr/>
          <p:nvPr/>
        </p:nvSpPr>
        <p:spPr>
          <a:xfrm>
            <a:off x="11301984" y="5925312"/>
            <a:ext cx="45720" cy="45720"/>
          </a:xfrm>
          <a:prstGeom prst="ellipse">
            <a:avLst/>
          </a:prstGeom>
          <a:solidFill>
            <a:srgbClr val="9A7FB0"/>
          </a:solidFill>
          <a:ln/>
        </p:spPr>
      </p:sp>
      <p:sp>
        <p:nvSpPr>
          <p:cNvPr id="51" name="Shape 49"/>
          <p:cNvSpPr/>
          <p:nvPr/>
        </p:nvSpPr>
        <p:spPr>
          <a:xfrm>
            <a:off x="11503152" y="5925312"/>
            <a:ext cx="45720" cy="45720"/>
          </a:xfrm>
          <a:prstGeom prst="ellipse">
            <a:avLst/>
          </a:prstGeom>
          <a:solidFill>
            <a:srgbClr val="9A7FB0"/>
          </a:solidFill>
          <a:ln/>
        </p:spPr>
      </p:sp>
      <p:sp>
        <p:nvSpPr>
          <p:cNvPr id="52" name="Text 50"/>
          <p:cNvSpPr/>
          <p:nvPr/>
        </p:nvSpPr>
        <p:spPr>
          <a:xfrm>
            <a:off x="566928" y="24688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spc="300" kern="0" dirty="0">
                <a:solidFill>
                  <a:srgbClr val="E6D9F0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SECTION 02</a:t>
            </a:r>
            <a:endParaRPr lang="en-US" sz="1400" dirty="0"/>
          </a:p>
        </p:txBody>
      </p:sp>
      <p:sp>
        <p:nvSpPr>
          <p:cNvPr id="53" name="Text 51"/>
          <p:cNvSpPr/>
          <p:nvPr/>
        </p:nvSpPr>
        <p:spPr>
          <a:xfrm>
            <a:off x="566928" y="2880360"/>
            <a:ext cx="10058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Market &amp; Customer</a:t>
            </a:r>
            <a:endParaRPr lang="en-US" sz="4800" dirty="0"/>
          </a:p>
        </p:txBody>
      </p:sp>
      <p:sp>
        <p:nvSpPr>
          <p:cNvPr id="54" name="Text 52"/>
          <p:cNvSpPr/>
          <p:nvPr/>
        </p:nvSpPr>
        <p:spPr>
          <a:xfrm>
            <a:off x="566928" y="41148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6D9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Who we serve, what they need, and the size of the prize.</a:t>
            </a:r>
            <a:endParaRPr lang="en-US" sz="1500" dirty="0"/>
          </a:p>
        </p:txBody>
      </p:sp>
      <p:sp>
        <p:nvSpPr>
          <p:cNvPr id="55" name="Shape 53"/>
          <p:cNvSpPr/>
          <p:nvPr/>
        </p:nvSpPr>
        <p:spPr>
          <a:xfrm>
            <a:off x="566928" y="2542032"/>
            <a:ext cx="457200" cy="36576"/>
          </a:xfrm>
          <a:prstGeom prst="rect">
            <a:avLst/>
          </a:prstGeom>
          <a:solidFill>
            <a:srgbClr val="E0A53C"/>
          </a:solidFill>
          <a:ln/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D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75488"/>
            <a:ext cx="146304" cy="146304"/>
          </a:xfrm>
          <a:prstGeom prst="ellipse">
            <a:avLst/>
          </a:prstGeom>
          <a:solidFill>
            <a:srgbClr val="FF6A2B"/>
          </a:solidFill>
          <a:ln/>
        </p:spPr>
      </p:sp>
      <p:sp>
        <p:nvSpPr>
          <p:cNvPr id="3" name="Text 1"/>
          <p:cNvSpPr/>
          <p:nvPr/>
        </p:nvSpPr>
        <p:spPr>
          <a:xfrm>
            <a:off x="804672" y="402336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6A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EXECUTIVE SUMMARY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66928" y="713232"/>
            <a:ext cx="11057839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41B14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The story in one slide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66928" y="1426464"/>
            <a:ext cx="11057839" cy="0"/>
          </a:xfrm>
          <a:prstGeom prst="line">
            <a:avLst/>
          </a:prstGeom>
          <a:noFill/>
          <a:ln w="12700">
            <a:solidFill>
              <a:srgbClr val="E3D6C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1783080"/>
            <a:ext cx="6766560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E3D6C2"/>
            </a:solidFill>
            <a:prstDash val="solid"/>
          </a:ln>
          <a:effectLst>
            <a:outerShdw sx="100000" sy="100000" kx="0" ky="0" algn="bl" rotWithShape="0" blurRad="88900" dist="38100" dir="8100000">
              <a:srgbClr val="241B14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66928" y="1783080"/>
            <a:ext cx="73152" cy="1078992"/>
          </a:xfrm>
          <a:prstGeom prst="rect">
            <a:avLst/>
          </a:prstGeom>
          <a:solidFill>
            <a:srgbClr val="5FAE7E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1911096"/>
            <a:ext cx="6309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FAE7E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Situation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22960" y="2240280"/>
            <a:ext cx="6263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C4A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market is shifting toward AI-native workflows; incumbents are slow to adapt.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66928" y="2990088"/>
            <a:ext cx="6766560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E3D6C2"/>
            </a:solidFill>
            <a:prstDash val="solid"/>
          </a:ln>
          <a:effectLst>
            <a:outerShdw sx="100000" sy="100000" kx="0" ky="0" algn="bl" rotWithShape="0" blurRad="88900" dist="38100" dir="8100000">
              <a:srgbClr val="241B14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66928" y="2990088"/>
            <a:ext cx="73152" cy="1078992"/>
          </a:xfrm>
          <a:prstGeom prst="rect">
            <a:avLst/>
          </a:prstGeom>
          <a:solidFill>
            <a:srgbClr val="E0A53C"/>
          </a:solidFill>
          <a:ln/>
        </p:spPr>
      </p:sp>
      <p:sp>
        <p:nvSpPr>
          <p:cNvPr id="12" name="Text 10"/>
          <p:cNvSpPr/>
          <p:nvPr/>
        </p:nvSpPr>
        <p:spPr>
          <a:xfrm>
            <a:off x="822960" y="3118104"/>
            <a:ext cx="6309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0A53C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Complication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22960" y="3447288"/>
            <a:ext cx="6263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C4A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Our current product solves yesterday's problem and churn is rising in the core segment.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66928" y="4197096"/>
            <a:ext cx="6766560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E3D6C2"/>
            </a:solidFill>
            <a:prstDash val="solid"/>
          </a:ln>
          <a:effectLst>
            <a:outerShdw sx="100000" sy="100000" kx="0" ky="0" algn="bl" rotWithShape="0" blurRad="88900" dist="38100" dir="8100000">
              <a:srgbClr val="241B14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66928" y="4197096"/>
            <a:ext cx="73152" cy="1078992"/>
          </a:xfrm>
          <a:prstGeom prst="rect">
            <a:avLst/>
          </a:prstGeom>
          <a:solidFill>
            <a:srgbClr val="FF6A2B"/>
          </a:solidFill>
          <a:ln/>
        </p:spPr>
      </p:sp>
      <p:sp>
        <p:nvSpPr>
          <p:cNvPr id="16" name="Text 14"/>
          <p:cNvSpPr/>
          <p:nvPr/>
        </p:nvSpPr>
        <p:spPr>
          <a:xfrm>
            <a:off x="822960" y="4325112"/>
            <a:ext cx="6309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6A2B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Recommendation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22960" y="4654296"/>
            <a:ext cx="6263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C4A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Reposition around an AI-assisted core, ship a focused v1 in 2 quarters, and defend the mid-market.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7699248" y="1783080"/>
            <a:ext cx="3925519" cy="1078992"/>
          </a:xfrm>
          <a:prstGeom prst="rect">
            <a:avLst/>
          </a:prstGeom>
          <a:solidFill>
            <a:srgbClr val="F5EDE0"/>
          </a:solidFill>
          <a:ln w="12700">
            <a:solidFill>
              <a:srgbClr val="E3D6C2"/>
            </a:solidFill>
            <a:prstDash val="solid"/>
          </a:ln>
          <a:effectLst>
            <a:outerShdw sx="100000" sy="100000" kx="0" ky="0" algn="bl" rotWithShape="0" blurRad="88900" dist="38100" dir="8100000">
              <a:srgbClr val="241B14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7927848" y="1892808"/>
            <a:ext cx="346831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5FAE7E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+38%</a:t>
            </a:r>
            <a:endParaRPr lang="en-US" sz="3400" dirty="0"/>
          </a:p>
        </p:txBody>
      </p:sp>
      <p:sp>
        <p:nvSpPr>
          <p:cNvPr id="20" name="Text 18"/>
          <p:cNvSpPr/>
          <p:nvPr/>
        </p:nvSpPr>
        <p:spPr>
          <a:xfrm>
            <a:off x="7946136" y="2496312"/>
            <a:ext cx="346831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4A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projected retention lift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7699248" y="2990088"/>
            <a:ext cx="3925519" cy="1078992"/>
          </a:xfrm>
          <a:prstGeom prst="rect">
            <a:avLst/>
          </a:prstGeom>
          <a:solidFill>
            <a:srgbClr val="F5EDE0"/>
          </a:solidFill>
          <a:ln w="12700">
            <a:solidFill>
              <a:srgbClr val="E3D6C2"/>
            </a:solidFill>
            <a:prstDash val="solid"/>
          </a:ln>
          <a:effectLst>
            <a:outerShdw sx="100000" sy="100000" kx="0" ky="0" algn="bl" rotWithShape="0" blurRad="88900" dist="38100" dir="8100000">
              <a:srgbClr val="241B14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7927848" y="3099816"/>
            <a:ext cx="346831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6A2B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2 Q</a:t>
            </a:r>
            <a:endParaRPr lang="en-US" sz="3400" dirty="0"/>
          </a:p>
        </p:txBody>
      </p:sp>
      <p:sp>
        <p:nvSpPr>
          <p:cNvPr id="23" name="Text 21"/>
          <p:cNvSpPr/>
          <p:nvPr/>
        </p:nvSpPr>
        <p:spPr>
          <a:xfrm>
            <a:off x="7946136" y="3703320"/>
            <a:ext cx="346831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4A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 first shippable v1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7699248" y="4197096"/>
            <a:ext cx="3925519" cy="1078992"/>
          </a:xfrm>
          <a:prstGeom prst="rect">
            <a:avLst/>
          </a:prstGeom>
          <a:solidFill>
            <a:srgbClr val="F5EDE0"/>
          </a:solidFill>
          <a:ln w="12700">
            <a:solidFill>
              <a:srgbClr val="E3D6C2"/>
            </a:solidFill>
            <a:prstDash val="solid"/>
          </a:ln>
          <a:effectLst>
            <a:outerShdw sx="100000" sy="100000" kx="0" ky="0" algn="bl" rotWithShape="0" blurRad="88900" dist="38100" dir="8100000">
              <a:srgbClr val="241B14">
                <a:alpha val="12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7927848" y="4306824"/>
            <a:ext cx="346831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7A5C8E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$4.2M</a:t>
            </a:r>
            <a:endParaRPr lang="en-US" sz="3400" dirty="0"/>
          </a:p>
        </p:txBody>
      </p:sp>
      <p:sp>
        <p:nvSpPr>
          <p:cNvPr id="26" name="Text 24"/>
          <p:cNvSpPr/>
          <p:nvPr/>
        </p:nvSpPr>
        <p:spPr>
          <a:xfrm>
            <a:off x="7946136" y="4910328"/>
            <a:ext cx="346831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4A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ARR at risk if we wait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66928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C8B7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Arun Teja Kamisetti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10710367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8B77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02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D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75488"/>
            <a:ext cx="146304" cy="146304"/>
          </a:xfrm>
          <a:prstGeom prst="ellipse">
            <a:avLst/>
          </a:prstGeom>
          <a:solidFill>
            <a:srgbClr val="FF6A2B"/>
          </a:solidFill>
          <a:ln/>
        </p:spPr>
      </p:sp>
      <p:sp>
        <p:nvSpPr>
          <p:cNvPr id="3" name="Text 1"/>
          <p:cNvSpPr/>
          <p:nvPr/>
        </p:nvSpPr>
        <p:spPr>
          <a:xfrm>
            <a:off x="804672" y="402336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6A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FRAMING · SCQA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66928" y="713232"/>
            <a:ext cx="11057839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41B14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Situation → Complication → Question → Answer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66928" y="1426464"/>
            <a:ext cx="11057839" cy="0"/>
          </a:xfrm>
          <a:prstGeom prst="line">
            <a:avLst/>
          </a:prstGeom>
          <a:noFill/>
          <a:ln w="12700">
            <a:solidFill>
              <a:srgbClr val="E3D6C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1783080"/>
            <a:ext cx="2558720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3D6C2"/>
            </a:solidFill>
            <a:prstDash val="solid"/>
          </a:ln>
          <a:effectLst>
            <a:outerShdw sx="100000" sy="100000" kx="0" ky="0" algn="bl" rotWithShape="0" blurRad="88900" dist="38100" dir="8100000">
              <a:srgbClr val="241B14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41248" y="2057400"/>
            <a:ext cx="731520" cy="731520"/>
          </a:xfrm>
          <a:prstGeom prst="ellipse">
            <a:avLst/>
          </a:prstGeom>
          <a:solidFill>
            <a:srgbClr val="5FAE7E"/>
          </a:solidFill>
          <a:ln/>
        </p:spPr>
      </p:sp>
      <p:sp>
        <p:nvSpPr>
          <p:cNvPr id="8" name="Text 6"/>
          <p:cNvSpPr/>
          <p:nvPr/>
        </p:nvSpPr>
        <p:spPr>
          <a:xfrm>
            <a:off x="841248" y="2084832"/>
            <a:ext cx="7315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S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841248" y="3017520"/>
            <a:ext cx="201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41B14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Situation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41248" y="3456432"/>
            <a:ext cx="20100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4A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Establish the stable starting context everyone agrees on.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143936" y="338328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DBBA0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→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3399968" y="1783080"/>
            <a:ext cx="2558720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3D6C2"/>
            </a:solidFill>
            <a:prstDash val="solid"/>
          </a:ln>
          <a:effectLst>
            <a:outerShdw sx="100000" sy="100000" kx="0" ky="0" algn="bl" rotWithShape="0" blurRad="88900" dist="38100" dir="8100000">
              <a:srgbClr val="241B14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674288" y="2057400"/>
            <a:ext cx="731520" cy="731520"/>
          </a:xfrm>
          <a:prstGeom prst="ellipse">
            <a:avLst/>
          </a:prstGeom>
          <a:solidFill>
            <a:srgbClr val="E0A53C"/>
          </a:solidFill>
          <a:ln/>
        </p:spPr>
      </p:sp>
      <p:sp>
        <p:nvSpPr>
          <p:cNvPr id="14" name="Text 12"/>
          <p:cNvSpPr/>
          <p:nvPr/>
        </p:nvSpPr>
        <p:spPr>
          <a:xfrm>
            <a:off x="3674288" y="2084832"/>
            <a:ext cx="7315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C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3674288" y="3017520"/>
            <a:ext cx="201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41B14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Complication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3674288" y="3456432"/>
            <a:ext cx="20100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4A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Introduce the change or tension that disrupts the situation.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976976" y="338328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DBBA0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→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6233008" y="1783080"/>
            <a:ext cx="2558720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3D6C2"/>
            </a:solidFill>
            <a:prstDash val="solid"/>
          </a:ln>
          <a:effectLst>
            <a:outerShdw sx="100000" sy="100000" kx="0" ky="0" algn="bl" rotWithShape="0" blurRad="88900" dist="38100" dir="8100000">
              <a:srgbClr val="241B14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507328" y="2057400"/>
            <a:ext cx="731520" cy="731520"/>
          </a:xfrm>
          <a:prstGeom prst="ellipse">
            <a:avLst/>
          </a:prstGeom>
          <a:solidFill>
            <a:srgbClr val="7A5C8E"/>
          </a:solidFill>
          <a:ln/>
        </p:spPr>
      </p:sp>
      <p:sp>
        <p:nvSpPr>
          <p:cNvPr id="20" name="Text 18"/>
          <p:cNvSpPr/>
          <p:nvPr/>
        </p:nvSpPr>
        <p:spPr>
          <a:xfrm>
            <a:off x="6507328" y="2084832"/>
            <a:ext cx="7315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Q</a:t>
            </a:r>
            <a:endParaRPr lang="en-US" sz="3000" dirty="0"/>
          </a:p>
        </p:txBody>
      </p:sp>
      <p:sp>
        <p:nvSpPr>
          <p:cNvPr id="21" name="Text 19"/>
          <p:cNvSpPr/>
          <p:nvPr/>
        </p:nvSpPr>
        <p:spPr>
          <a:xfrm>
            <a:off x="6507328" y="3017520"/>
            <a:ext cx="201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41B14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Question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507328" y="3456432"/>
            <a:ext cx="20100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4A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natural question the complication raises for the audience.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8810015" y="338328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DBBA0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→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9066047" y="1783080"/>
            <a:ext cx="2558720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3D6C2"/>
            </a:solidFill>
            <a:prstDash val="solid"/>
          </a:ln>
          <a:effectLst>
            <a:outerShdw sx="100000" sy="100000" kx="0" ky="0" algn="bl" rotWithShape="0" blurRad="88900" dist="38100" dir="8100000">
              <a:srgbClr val="241B14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9340367" y="2057400"/>
            <a:ext cx="731520" cy="731520"/>
          </a:xfrm>
          <a:prstGeom prst="ellipse">
            <a:avLst/>
          </a:prstGeom>
          <a:solidFill>
            <a:srgbClr val="FF6A2B"/>
          </a:solidFill>
          <a:ln/>
        </p:spPr>
      </p:sp>
      <p:sp>
        <p:nvSpPr>
          <p:cNvPr id="26" name="Text 24"/>
          <p:cNvSpPr/>
          <p:nvPr/>
        </p:nvSpPr>
        <p:spPr>
          <a:xfrm>
            <a:off x="9340367" y="2084832"/>
            <a:ext cx="7315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A</a:t>
            </a:r>
            <a:endParaRPr lang="en-US" sz="3000" dirty="0"/>
          </a:p>
        </p:txBody>
      </p:sp>
      <p:sp>
        <p:nvSpPr>
          <p:cNvPr id="27" name="Text 25"/>
          <p:cNvSpPr/>
          <p:nvPr/>
        </p:nvSpPr>
        <p:spPr>
          <a:xfrm>
            <a:off x="9340367" y="3017520"/>
            <a:ext cx="201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41B14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Answer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9340367" y="3456432"/>
            <a:ext cx="20100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4A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Your governing thought — the answer this deck will defend.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566928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C8B7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Arun Teja Kamisetti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10710367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8B77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03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D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75488"/>
            <a:ext cx="146304" cy="146304"/>
          </a:xfrm>
          <a:prstGeom prst="ellipse">
            <a:avLst/>
          </a:prstGeom>
          <a:solidFill>
            <a:srgbClr val="FF6A2B"/>
          </a:solidFill>
          <a:ln/>
        </p:spPr>
      </p:sp>
      <p:sp>
        <p:nvSpPr>
          <p:cNvPr id="3" name="Text 1"/>
          <p:cNvSpPr/>
          <p:nvPr/>
        </p:nvSpPr>
        <p:spPr>
          <a:xfrm>
            <a:off x="804672" y="402336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6A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66928" y="713232"/>
            <a:ext cx="11057839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41B14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The problem we're solving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66928" y="1426464"/>
            <a:ext cx="11057839" cy="0"/>
          </a:xfrm>
          <a:prstGeom prst="line">
            <a:avLst/>
          </a:prstGeom>
          <a:noFill/>
          <a:ln w="12700">
            <a:solidFill>
              <a:srgbClr val="E3D6C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1783080"/>
            <a:ext cx="11057839" cy="1737360"/>
          </a:xfrm>
          <a:prstGeom prst="rect">
            <a:avLst/>
          </a:prstGeom>
          <a:solidFill>
            <a:srgbClr val="F5EDE0"/>
          </a:solidFill>
          <a:ln w="12700">
            <a:solidFill>
              <a:srgbClr val="E3D6C2"/>
            </a:solidFill>
            <a:prstDash val="solid"/>
          </a:ln>
          <a:effectLst>
            <a:outerShdw sx="100000" sy="100000" kx="0" ky="0" algn="bl" rotWithShape="0" blurRad="88900" dist="38100" dir="8100000">
              <a:srgbClr val="241B14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66928" y="1783080"/>
            <a:ext cx="73152" cy="1737360"/>
          </a:xfrm>
          <a:prstGeom prst="rect">
            <a:avLst/>
          </a:prstGeom>
          <a:solidFill>
            <a:srgbClr val="FF6A2B"/>
          </a:solidFill>
          <a:ln/>
        </p:spPr>
      </p:sp>
      <p:sp>
        <p:nvSpPr>
          <p:cNvPr id="8" name="Text 6"/>
          <p:cNvSpPr/>
          <p:nvPr/>
        </p:nvSpPr>
        <p:spPr>
          <a:xfrm>
            <a:off x="886968" y="1965960"/>
            <a:ext cx="10417759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900" dirty="0">
                <a:solidFill>
                  <a:srgbClr val="5C4A3A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For </a:t>
            </a:r>
            <a:pPr indent="0" marL="0">
              <a:lnSpc>
                <a:spcPct val="115000"/>
              </a:lnSpc>
              <a:buNone/>
            </a:pPr>
            <a:r>
              <a:rPr lang="en-US" sz="1900" b="1" dirty="0">
                <a:solidFill>
                  <a:srgbClr val="241B14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mid-market product teams</a:t>
            </a:r>
            <a:pPr indent="0" marL="0">
              <a:lnSpc>
                <a:spcPct val="115000"/>
              </a:lnSpc>
              <a:buNone/>
            </a:pPr>
            <a:r>
              <a:rPr lang="en-US" sz="1900" dirty="0">
                <a:solidFill>
                  <a:srgbClr val="5C4A3A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 who </a:t>
            </a:r>
            <a:pPr indent="0" marL="0">
              <a:lnSpc>
                <a:spcPct val="115000"/>
              </a:lnSpc>
              <a:buNone/>
            </a:pPr>
            <a:r>
              <a:rPr lang="en-US" sz="1900" b="1" dirty="0">
                <a:solidFill>
                  <a:srgbClr val="241B14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struggle to evaluate AI models against real constraints</a:t>
            </a:r>
            <a:pPr indent="0" marL="0">
              <a:lnSpc>
                <a:spcPct val="115000"/>
              </a:lnSpc>
              <a:buNone/>
            </a:pPr>
            <a:r>
              <a:rPr lang="en-US" sz="1900" dirty="0">
                <a:solidFill>
                  <a:srgbClr val="5C4A3A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, today's tools force a trade-off between speed and rigor — leaving teams to ship on gut feel or stall in analysis.</a:t>
            </a:r>
            <a:endParaRPr lang="en-US" sz="1900" dirty="0"/>
          </a:p>
        </p:txBody>
      </p:sp>
      <p:sp>
        <p:nvSpPr>
          <p:cNvPr id="9" name="Shape 7"/>
          <p:cNvSpPr/>
          <p:nvPr/>
        </p:nvSpPr>
        <p:spPr>
          <a:xfrm>
            <a:off x="566928" y="3794760"/>
            <a:ext cx="3503066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3D6C2"/>
            </a:solidFill>
            <a:prstDash val="solid"/>
          </a:ln>
          <a:effectLst>
            <a:outerShdw sx="100000" sy="100000" kx="0" ky="0" algn="bl" rotWithShape="0" blurRad="88900" dist="38100" dir="8100000">
              <a:srgbClr val="241B14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795528" y="3977640"/>
            <a:ext cx="304586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E0A53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TODAY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795528" y="4297680"/>
            <a:ext cx="304586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241B14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Manual eval takes 3–4 weeks per model decision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4344314" y="3794760"/>
            <a:ext cx="3503066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3D6C2"/>
            </a:solidFill>
            <a:prstDash val="solid"/>
          </a:ln>
          <a:effectLst>
            <a:outerShdw sx="100000" sy="100000" kx="0" ky="0" algn="bl" rotWithShape="0" blurRad="88900" dist="38100" dir="8100000">
              <a:srgbClr val="241B14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572914" y="3977640"/>
            <a:ext cx="304586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7A5C8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COST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914" y="4297680"/>
            <a:ext cx="304586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241B14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~40% of pilots stall before a go/no-go call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8121701" y="3794760"/>
            <a:ext cx="3503066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3D6C2"/>
            </a:solidFill>
            <a:prstDash val="solid"/>
          </a:ln>
          <a:effectLst>
            <a:outerShdw sx="100000" sy="100000" kx="0" ky="0" algn="bl" rotWithShape="0" blurRad="88900" dist="38100" dir="8100000">
              <a:srgbClr val="241B14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8350301" y="3977640"/>
            <a:ext cx="304586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FF6A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STAKES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8350301" y="4297680"/>
            <a:ext cx="304586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241B14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Wrong model choice = months of rework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566928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C8B7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Arun Teja Kamisetti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10710367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8B77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04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D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75488"/>
            <a:ext cx="146304" cy="146304"/>
          </a:xfrm>
          <a:prstGeom prst="ellipse">
            <a:avLst/>
          </a:prstGeom>
          <a:solidFill>
            <a:srgbClr val="FF6A2B"/>
          </a:solidFill>
          <a:ln/>
        </p:spPr>
      </p:sp>
      <p:sp>
        <p:nvSpPr>
          <p:cNvPr id="3" name="Text 1"/>
          <p:cNvSpPr/>
          <p:nvPr/>
        </p:nvSpPr>
        <p:spPr>
          <a:xfrm>
            <a:off x="804672" y="402336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6A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POSITIONING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66928" y="713232"/>
            <a:ext cx="11057839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41B14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Positioning statement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66928" y="1426464"/>
            <a:ext cx="11057839" cy="0"/>
          </a:xfrm>
          <a:prstGeom prst="line">
            <a:avLst/>
          </a:prstGeom>
          <a:noFill/>
          <a:ln w="12700">
            <a:solidFill>
              <a:srgbClr val="E3D6C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1737360"/>
            <a:ext cx="11057839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E3D6C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95528" y="1755648"/>
            <a:ext cx="2926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6A2B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For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493008" y="1755648"/>
            <a:ext cx="31089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C8B77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[target customer]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784848" y="1755648"/>
            <a:ext cx="4748479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41B1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mid-market product &amp; data teams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66928" y="2414016"/>
            <a:ext cx="11057839" cy="658368"/>
          </a:xfrm>
          <a:prstGeom prst="rect">
            <a:avLst/>
          </a:prstGeom>
          <a:solidFill>
            <a:srgbClr val="F5EDE0"/>
          </a:solidFill>
          <a:ln w="6350">
            <a:solidFill>
              <a:srgbClr val="E3D6C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95528" y="2432304"/>
            <a:ext cx="2926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6A2B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Who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493008" y="2432304"/>
            <a:ext cx="31089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C8B77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[need / opportunity]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784848" y="2432304"/>
            <a:ext cx="4748479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41B1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need to choose AI models with confidence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66928" y="3090672"/>
            <a:ext cx="11057839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E3D6C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95528" y="3108960"/>
            <a:ext cx="2926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6A2B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Our product is a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3493008" y="3108960"/>
            <a:ext cx="31089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C8B77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[category]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784848" y="3108960"/>
            <a:ext cx="4748479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41B1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model evaluation &amp; guardrails platform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66928" y="3767328"/>
            <a:ext cx="11057839" cy="658368"/>
          </a:xfrm>
          <a:prstGeom prst="rect">
            <a:avLst/>
          </a:prstGeom>
          <a:solidFill>
            <a:srgbClr val="F5EDE0"/>
          </a:solidFill>
          <a:ln w="6350">
            <a:solidFill>
              <a:srgbClr val="E3D6C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95528" y="3785616"/>
            <a:ext cx="2926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6A2B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That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3493008" y="3785616"/>
            <a:ext cx="31089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C8B77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[key benefit]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784848" y="3785616"/>
            <a:ext cx="4748479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41B1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cuts eval time from weeks to days, safely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566928" y="4443984"/>
            <a:ext cx="11057839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E3D6C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95528" y="4462272"/>
            <a:ext cx="2926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6A2B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Unlike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3493008" y="4462272"/>
            <a:ext cx="31089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C8B77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[primary alternative]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784848" y="4462272"/>
            <a:ext cx="4748479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41B1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manual spreadsheets and one-off benchmarks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566928" y="5120640"/>
            <a:ext cx="11057839" cy="658368"/>
          </a:xfrm>
          <a:prstGeom prst="rect">
            <a:avLst/>
          </a:prstGeom>
          <a:solidFill>
            <a:srgbClr val="F5EDE0"/>
          </a:solidFill>
          <a:ln w="6350">
            <a:solidFill>
              <a:srgbClr val="E3D6C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95528" y="5138928"/>
            <a:ext cx="2926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6A2B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Our product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3493008" y="5138928"/>
            <a:ext cx="31089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C8B77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[differentiation]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784848" y="5138928"/>
            <a:ext cx="4748479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41B1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scores capability, cost, latency &amp; safety together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566928" y="5870448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9C8B7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Replace the bracketed prompts with your specifics; keep the bold scaffolding.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566928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C8B7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Arun Teja Kamisetti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10710367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8B77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05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D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75488"/>
            <a:ext cx="146304" cy="146304"/>
          </a:xfrm>
          <a:prstGeom prst="ellipse">
            <a:avLst/>
          </a:prstGeom>
          <a:solidFill>
            <a:srgbClr val="FF6A2B"/>
          </a:solidFill>
          <a:ln/>
        </p:spPr>
      </p:sp>
      <p:sp>
        <p:nvSpPr>
          <p:cNvPr id="3" name="Text 1"/>
          <p:cNvSpPr/>
          <p:nvPr/>
        </p:nvSpPr>
        <p:spPr>
          <a:xfrm>
            <a:off x="804672" y="402336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6A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JOBS TO BE DONE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66928" y="713232"/>
            <a:ext cx="11057839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41B14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What customers are really hiring us for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66928" y="1426464"/>
            <a:ext cx="11057839" cy="0"/>
          </a:xfrm>
          <a:prstGeom prst="line">
            <a:avLst/>
          </a:prstGeom>
          <a:noFill/>
          <a:ln w="12700">
            <a:solidFill>
              <a:srgbClr val="E3D6C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1737360"/>
            <a:ext cx="11057839" cy="914400"/>
          </a:xfrm>
          <a:prstGeom prst="rect">
            <a:avLst/>
          </a:prstGeom>
          <a:solidFill>
            <a:srgbClr val="F5EDE0"/>
          </a:solidFill>
          <a:ln w="12700">
            <a:solidFill>
              <a:srgbClr val="E3D6C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66928" y="1737360"/>
            <a:ext cx="73152" cy="914400"/>
          </a:xfrm>
          <a:prstGeom prst="rect">
            <a:avLst/>
          </a:prstGeom>
          <a:solidFill>
            <a:srgbClr val="5FAE7E"/>
          </a:solidFill>
          <a:ln/>
        </p:spPr>
      </p:sp>
      <p:sp>
        <p:nvSpPr>
          <p:cNvPr id="8" name="Text 6"/>
          <p:cNvSpPr/>
          <p:nvPr/>
        </p:nvSpPr>
        <p:spPr>
          <a:xfrm>
            <a:off x="841248" y="1874520"/>
            <a:ext cx="10509199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5C4A3A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When I'm </a:t>
            </a:r>
            <a:pPr indent="0" marL="0">
              <a:lnSpc>
                <a:spcPct val="110000"/>
              </a:lnSpc>
              <a:buNone/>
            </a:pPr>
            <a:r>
              <a:rPr lang="en-US" sz="1600" b="1" dirty="0">
                <a:solidFill>
                  <a:srgbClr val="241B14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deciding which AI model to ship</a:t>
            </a:r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5C4A3A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, I want to </a:t>
            </a:r>
            <a:pPr indent="0" marL="0">
              <a:lnSpc>
                <a:spcPct val="110000"/>
              </a:lnSpc>
              <a:buNone/>
            </a:pPr>
            <a:r>
              <a:rPr lang="en-US" sz="1600" b="1" dirty="0">
                <a:solidFill>
                  <a:srgbClr val="241B14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compare them on the dimensions that matter to my users</a:t>
            </a:r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5C4A3A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, so I can </a:t>
            </a:r>
            <a:pPr indent="0" marL="0">
              <a:lnSpc>
                <a:spcPct val="110000"/>
              </a:lnSpc>
              <a:buNone/>
            </a:pPr>
            <a:r>
              <a:rPr lang="en-US" sz="1600" b="1" dirty="0">
                <a:solidFill>
                  <a:srgbClr val="241B14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commit with confidence and defend the call.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66928" y="2926080"/>
            <a:ext cx="3503066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3D6C2"/>
            </a:solidFill>
            <a:prstDash val="solid"/>
          </a:ln>
          <a:effectLst>
            <a:outerShdw sx="100000" sy="100000" kx="0" ky="0" algn="bl" rotWithShape="0" blurRad="88900" dist="38100" dir="8100000">
              <a:srgbClr val="241B14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795528" y="3127248"/>
            <a:ext cx="457200" cy="457200"/>
          </a:xfrm>
          <a:prstGeom prst="ellipse">
            <a:avLst/>
          </a:prstGeom>
          <a:solidFill>
            <a:srgbClr val="FF6A2B"/>
          </a:solidFill>
          <a:ln/>
        </p:spPr>
      </p:sp>
      <p:sp>
        <p:nvSpPr>
          <p:cNvPr id="11" name="Text 9"/>
          <p:cNvSpPr/>
          <p:nvPr/>
        </p:nvSpPr>
        <p:spPr>
          <a:xfrm>
            <a:off x="1389888" y="3154680"/>
            <a:ext cx="258866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41B14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Functional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795528" y="3749040"/>
            <a:ext cx="304586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C4A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Pick the model that performs on the real task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4344314" y="2926080"/>
            <a:ext cx="3503066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3D6C2"/>
            </a:solidFill>
            <a:prstDash val="solid"/>
          </a:ln>
          <a:effectLst>
            <a:outerShdw sx="100000" sy="100000" kx="0" ky="0" algn="bl" rotWithShape="0" blurRad="88900" dist="38100" dir="8100000">
              <a:srgbClr val="241B14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572914" y="3127248"/>
            <a:ext cx="457200" cy="457200"/>
          </a:xfrm>
          <a:prstGeom prst="ellipse">
            <a:avLst/>
          </a:prstGeom>
          <a:solidFill>
            <a:srgbClr val="7A5C8E"/>
          </a:solidFill>
          <a:ln/>
        </p:spPr>
      </p:sp>
      <p:sp>
        <p:nvSpPr>
          <p:cNvPr id="15" name="Text 13"/>
          <p:cNvSpPr/>
          <p:nvPr/>
        </p:nvSpPr>
        <p:spPr>
          <a:xfrm>
            <a:off x="5167274" y="3154680"/>
            <a:ext cx="258866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41B14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Emotional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4572914" y="3749040"/>
            <a:ext cx="304586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C4A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Feel confident, not anxious, about the decision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8121701" y="2926080"/>
            <a:ext cx="3503066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3D6C2"/>
            </a:solidFill>
            <a:prstDash val="solid"/>
          </a:ln>
          <a:effectLst>
            <a:outerShdw sx="100000" sy="100000" kx="0" ky="0" algn="bl" rotWithShape="0" blurRad="88900" dist="38100" dir="8100000">
              <a:srgbClr val="241B14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8350301" y="3127248"/>
            <a:ext cx="457200" cy="457200"/>
          </a:xfrm>
          <a:prstGeom prst="ellipse">
            <a:avLst/>
          </a:prstGeom>
          <a:solidFill>
            <a:srgbClr val="E0A53C"/>
          </a:solidFill>
          <a:ln/>
        </p:spPr>
      </p:sp>
      <p:sp>
        <p:nvSpPr>
          <p:cNvPr id="19" name="Text 17"/>
          <p:cNvSpPr/>
          <p:nvPr/>
        </p:nvSpPr>
        <p:spPr>
          <a:xfrm>
            <a:off x="8944661" y="3154680"/>
            <a:ext cx="258866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41B14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Social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8350301" y="3749040"/>
            <a:ext cx="304586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C4A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Be seen as rigorous and data-driven by stakeholders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566928" y="5029200"/>
            <a:ext cx="1105783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C8B7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Push · Pull · Habit · Anxiety  —  map the four forces that move (or block) the switch.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66928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C8B7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Arun Teja Kamisetti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10710367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8B77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06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D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75488"/>
            <a:ext cx="146304" cy="146304"/>
          </a:xfrm>
          <a:prstGeom prst="ellipse">
            <a:avLst/>
          </a:prstGeom>
          <a:solidFill>
            <a:srgbClr val="FF6A2B"/>
          </a:solidFill>
          <a:ln/>
        </p:spPr>
      </p:sp>
      <p:sp>
        <p:nvSpPr>
          <p:cNvPr id="3" name="Text 1"/>
          <p:cNvSpPr/>
          <p:nvPr/>
        </p:nvSpPr>
        <p:spPr>
          <a:xfrm>
            <a:off x="804672" y="402336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6A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PORTFOLIO · BCG MATRIX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66928" y="713232"/>
            <a:ext cx="11057839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41B14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Growth–share matrix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66928" y="1426464"/>
            <a:ext cx="11057839" cy="0"/>
          </a:xfrm>
          <a:prstGeom prst="line">
            <a:avLst/>
          </a:prstGeom>
          <a:noFill/>
          <a:ln w="12700">
            <a:solidFill>
              <a:srgbClr val="E3D6C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0" y="1828800"/>
            <a:ext cx="1828800" cy="1828800"/>
          </a:xfrm>
          <a:prstGeom prst="rect">
            <a:avLst/>
          </a:prstGeom>
          <a:solidFill>
            <a:srgbClr val="5FAE7E">
              <a:alpha val="14000"/>
            </a:srgbClr>
          </a:solidFill>
          <a:ln w="9525">
            <a:solidFill>
              <a:srgbClr val="E3D6C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852928" y="1920240"/>
            <a:ext cx="16093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FAE7E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Stars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2852928" y="2240280"/>
            <a:ext cx="16093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8B7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High growth · high share — invest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572000" y="1828800"/>
            <a:ext cx="1828800" cy="1828800"/>
          </a:xfrm>
          <a:prstGeom prst="rect">
            <a:avLst/>
          </a:prstGeom>
          <a:solidFill>
            <a:srgbClr val="E0A53C">
              <a:alpha val="14000"/>
            </a:srgbClr>
          </a:solidFill>
          <a:ln w="9525">
            <a:solidFill>
              <a:srgbClr val="E3D6C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681728" y="1920240"/>
            <a:ext cx="16093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0A53C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Question marks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681728" y="2240280"/>
            <a:ext cx="16093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8B7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High growth · low share — decide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2743200" y="3657600"/>
            <a:ext cx="1828800" cy="1828800"/>
          </a:xfrm>
          <a:prstGeom prst="rect">
            <a:avLst/>
          </a:prstGeom>
          <a:solidFill>
            <a:srgbClr val="7A5C8E">
              <a:alpha val="14000"/>
            </a:srgbClr>
          </a:solidFill>
          <a:ln w="9525">
            <a:solidFill>
              <a:srgbClr val="E3D6C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852928" y="3749040"/>
            <a:ext cx="16093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A5C8E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Cash cows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2852928" y="4069080"/>
            <a:ext cx="16093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8B7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Low growth · high share — harvest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572000" y="3657600"/>
            <a:ext cx="1828800" cy="1828800"/>
          </a:xfrm>
          <a:prstGeom prst="rect">
            <a:avLst/>
          </a:prstGeom>
          <a:solidFill>
            <a:srgbClr val="F5EDE0">
              <a:alpha val="14000"/>
            </a:srgbClr>
          </a:solidFill>
          <a:ln w="9525">
            <a:solidFill>
              <a:srgbClr val="E3D6C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681728" y="3749040"/>
            <a:ext cx="16093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C4A3A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Dogs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681728" y="4069080"/>
            <a:ext cx="16093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8B7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Low growth · low share — divest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 rot="16200000">
            <a:off x="914400" y="35204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C4A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Market growth →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2743200" y="55595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C4A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Relative market share →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497580" y="3177540"/>
            <a:ext cx="502920" cy="502920"/>
          </a:xfrm>
          <a:prstGeom prst="ellipse">
            <a:avLst/>
          </a:prstGeom>
          <a:solidFill>
            <a:srgbClr val="5FAE7E">
              <a:alpha val="7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108960" y="3698748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41B1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Core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5303520" y="3337560"/>
            <a:ext cx="365760" cy="365760"/>
          </a:xfrm>
          <a:prstGeom prst="ellipse">
            <a:avLst/>
          </a:prstGeom>
          <a:solidFill>
            <a:srgbClr val="E0A53C">
              <a:alpha val="7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46320" y="3721608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41B1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 add-on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3337560" y="4754880"/>
            <a:ext cx="640080" cy="640080"/>
          </a:xfrm>
          <a:prstGeom prst="ellipse">
            <a:avLst/>
          </a:prstGeom>
          <a:solidFill>
            <a:srgbClr val="7A5C8E">
              <a:alpha val="7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017520" y="5413248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41B1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Legacy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5440680" y="4983480"/>
            <a:ext cx="274320" cy="274320"/>
          </a:xfrm>
          <a:prstGeom prst="ellipse">
            <a:avLst/>
          </a:prstGeom>
          <a:solidFill>
            <a:srgbClr val="FF6A2B">
              <a:alpha val="7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937760" y="5276088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41B1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Trial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6858000" y="1828800"/>
            <a:ext cx="4766767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41B14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How to read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6858000" y="2240280"/>
            <a:ext cx="4766767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5C4A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Bubble size = revenue contribution</a:t>
            </a:r>
            <a:endParaRPr lang="en-US" sz="12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5C4A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Stars: fund aggressively to hold the lead</a:t>
            </a:r>
            <a:endParaRPr lang="en-US" sz="12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5C4A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Cash cows: milk to fund stars &amp; question marks</a:t>
            </a:r>
            <a:endParaRPr lang="en-US" sz="12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5C4A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Question marks: pick winners, kill the rest</a:t>
            </a:r>
            <a:endParaRPr lang="en-US" sz="12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5C4A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Dogs: divest or reposition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566928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C8B7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Arun Teja Kamisetti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10710367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8B77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07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D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75488"/>
            <a:ext cx="146304" cy="146304"/>
          </a:xfrm>
          <a:prstGeom prst="ellipse">
            <a:avLst/>
          </a:prstGeom>
          <a:solidFill>
            <a:srgbClr val="FF6A2B"/>
          </a:solidFill>
          <a:ln/>
        </p:spPr>
      </p:sp>
      <p:sp>
        <p:nvSpPr>
          <p:cNvPr id="3" name="Text 1"/>
          <p:cNvSpPr/>
          <p:nvPr/>
        </p:nvSpPr>
        <p:spPr>
          <a:xfrm>
            <a:off x="804672" y="402336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6A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INDUSTRY ANALYSIS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66928" y="713232"/>
            <a:ext cx="11057839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41B14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Porter's Five Forces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66928" y="1426464"/>
            <a:ext cx="11057839" cy="0"/>
          </a:xfrm>
          <a:prstGeom prst="line">
            <a:avLst/>
          </a:prstGeom>
          <a:noFill/>
          <a:ln w="12700">
            <a:solidFill>
              <a:srgbClr val="E3D6C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41368" y="3154680"/>
            <a:ext cx="3108960" cy="1371600"/>
          </a:xfrm>
          <a:prstGeom prst="rect">
            <a:avLst/>
          </a:prstGeom>
          <a:solidFill>
            <a:srgbClr val="F5EDE0"/>
          </a:solidFill>
          <a:ln w="12700">
            <a:solidFill>
              <a:srgbClr val="E3D6C2"/>
            </a:solidFill>
            <a:prstDash val="solid"/>
          </a:ln>
          <a:effectLst>
            <a:outerShdw sx="100000" sy="100000" kx="0" ky="0" algn="bl" rotWithShape="0" blurRad="88900" dist="38100" dir="8100000">
              <a:srgbClr val="241B14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41368" y="3154680"/>
            <a:ext cx="73152" cy="1371600"/>
          </a:xfrm>
          <a:prstGeom prst="rect">
            <a:avLst/>
          </a:prstGeom>
          <a:solidFill>
            <a:srgbClr val="FF6A2B"/>
          </a:solidFill>
          <a:ln/>
        </p:spPr>
      </p:sp>
      <p:sp>
        <p:nvSpPr>
          <p:cNvPr id="8" name="Text 6"/>
          <p:cNvSpPr/>
          <p:nvPr/>
        </p:nvSpPr>
        <p:spPr>
          <a:xfrm>
            <a:off x="4541368" y="3246120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41B14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Competitive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241B14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Rivalry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541368" y="402336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6A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HIGH — many AI tooling entrants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541368" y="1783080"/>
            <a:ext cx="310896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3D6C2"/>
            </a:solidFill>
            <a:prstDash val="solid"/>
          </a:ln>
          <a:effectLst>
            <a:outerShdw sx="100000" sy="100000" kx="0" ky="0" algn="bl" rotWithShape="0" blurRad="88900" dist="38100" dir="8100000">
              <a:srgbClr val="241B14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724248" y="1911096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41B14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New entrants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724248" y="233172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FAE7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MED · low capital, high churn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41368" y="4800600"/>
            <a:ext cx="310896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3D6C2"/>
            </a:solidFill>
            <a:prstDash val="solid"/>
          </a:ln>
          <a:effectLst>
            <a:outerShdw sx="100000" sy="100000" kx="0" ky="0" algn="bl" rotWithShape="0" blurRad="88900" dist="38100" dir="8100000">
              <a:srgbClr val="241B14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724248" y="4928616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41B14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Substitutes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724248" y="534924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0A53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MED · in-house builds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66928" y="3154680"/>
            <a:ext cx="310896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3D6C2"/>
            </a:solidFill>
            <a:prstDash val="solid"/>
          </a:ln>
          <a:effectLst>
            <a:outerShdw sx="100000" sy="100000" kx="0" ky="0" algn="bl" rotWithShape="0" blurRad="88900" dist="38100" dir="8100000">
              <a:srgbClr val="241B14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749808" y="3282696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41B14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Supplier power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749808" y="370332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A5C8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HIGH · few model providers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8515807" y="3154680"/>
            <a:ext cx="310896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3D6C2"/>
            </a:solidFill>
            <a:prstDash val="solid"/>
          </a:ln>
          <a:effectLst>
            <a:outerShdw sx="100000" sy="100000" kx="0" ky="0" algn="bl" rotWithShape="0" blurRad="88900" dist="38100" dir="8100000">
              <a:srgbClr val="241B14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8698687" y="3282696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41B14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Buyer power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698687" y="370332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A5C8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MED · price-sensitive mid-market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095848" y="2880360"/>
            <a:ext cx="0" cy="274320"/>
          </a:xfrm>
          <a:prstGeom prst="line">
            <a:avLst/>
          </a:prstGeom>
          <a:noFill/>
          <a:ln w="15875">
            <a:solidFill>
              <a:srgbClr val="CDBBA0"/>
            </a:solidFill>
            <a:prstDash val="dash"/>
          </a:ln>
        </p:spPr>
      </p:sp>
      <p:sp>
        <p:nvSpPr>
          <p:cNvPr id="23" name="Shape 21"/>
          <p:cNvSpPr/>
          <p:nvPr/>
        </p:nvSpPr>
        <p:spPr>
          <a:xfrm>
            <a:off x="6095848" y="4526280"/>
            <a:ext cx="0" cy="274320"/>
          </a:xfrm>
          <a:prstGeom prst="line">
            <a:avLst/>
          </a:prstGeom>
          <a:noFill/>
          <a:ln w="15875">
            <a:solidFill>
              <a:srgbClr val="CDBBA0"/>
            </a:solidFill>
            <a:prstDash val="dash"/>
          </a:ln>
        </p:spPr>
      </p:sp>
      <p:sp>
        <p:nvSpPr>
          <p:cNvPr id="24" name="Shape 22"/>
          <p:cNvSpPr/>
          <p:nvPr/>
        </p:nvSpPr>
        <p:spPr>
          <a:xfrm>
            <a:off x="3675888" y="3703320"/>
            <a:ext cx="865480" cy="45720"/>
          </a:xfrm>
          <a:prstGeom prst="line">
            <a:avLst/>
          </a:prstGeom>
          <a:noFill/>
          <a:ln w="15875">
            <a:solidFill>
              <a:srgbClr val="CDBBA0"/>
            </a:solidFill>
            <a:prstDash val="dash"/>
          </a:ln>
        </p:spPr>
      </p:sp>
      <p:sp>
        <p:nvSpPr>
          <p:cNvPr id="25" name="Shape 23"/>
          <p:cNvSpPr/>
          <p:nvPr/>
        </p:nvSpPr>
        <p:spPr>
          <a:xfrm>
            <a:off x="7650328" y="3703320"/>
            <a:ext cx="865480" cy="45720"/>
          </a:xfrm>
          <a:prstGeom prst="line">
            <a:avLst/>
          </a:prstGeom>
          <a:noFill/>
          <a:ln w="15875">
            <a:solidFill>
              <a:srgbClr val="CDBBA0"/>
            </a:solidFill>
            <a:prstDash val="dash"/>
          </a:ln>
        </p:spPr>
      </p:sp>
      <p:sp>
        <p:nvSpPr>
          <p:cNvPr id="26" name="Text 24"/>
          <p:cNvSpPr/>
          <p:nvPr/>
        </p:nvSpPr>
        <p:spPr>
          <a:xfrm>
            <a:off x="566928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C8B7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Arun Teja Kamisetti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10710367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8B77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08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D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75488"/>
            <a:ext cx="146304" cy="146304"/>
          </a:xfrm>
          <a:prstGeom prst="ellipse">
            <a:avLst/>
          </a:prstGeom>
          <a:solidFill>
            <a:srgbClr val="FF6A2B"/>
          </a:solidFill>
          <a:ln/>
        </p:spPr>
      </p:sp>
      <p:sp>
        <p:nvSpPr>
          <p:cNvPr id="3" name="Text 1"/>
          <p:cNvSpPr/>
          <p:nvPr/>
        </p:nvSpPr>
        <p:spPr>
          <a:xfrm>
            <a:off x="804672" y="402336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6A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STRUCTURING · MECE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66928" y="713232"/>
            <a:ext cx="11057839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41B14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Issue tree (mutually exclusive, collectively exhaustive)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66928" y="1426464"/>
            <a:ext cx="11057839" cy="0"/>
          </a:xfrm>
          <a:prstGeom prst="line">
            <a:avLst/>
          </a:prstGeom>
          <a:noFill/>
          <a:ln w="12700">
            <a:solidFill>
              <a:srgbClr val="E3D6C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2926080"/>
            <a:ext cx="2468880" cy="914400"/>
          </a:xfrm>
          <a:prstGeom prst="rect">
            <a:avLst/>
          </a:prstGeom>
          <a:solidFill>
            <a:srgbClr val="F5EDE0"/>
          </a:solidFill>
          <a:ln w="12700">
            <a:solidFill>
              <a:srgbClr val="E3D6C2"/>
            </a:solidFill>
            <a:prstDash val="solid"/>
          </a:ln>
          <a:effectLst>
            <a:outerShdw sx="100000" sy="100000" kx="0" ky="0" algn="bl" rotWithShape="0" blurRad="88900" dist="38100" dir="8100000">
              <a:srgbClr val="241B14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66928" y="2926080"/>
            <a:ext cx="73152" cy="914400"/>
          </a:xfrm>
          <a:prstGeom prst="rect">
            <a:avLst/>
          </a:prstGeom>
          <a:solidFill>
            <a:srgbClr val="FF6A2B"/>
          </a:solidFill>
          <a:ln/>
        </p:spPr>
      </p:sp>
      <p:sp>
        <p:nvSpPr>
          <p:cNvPr id="8" name="Text 6"/>
          <p:cNvSpPr/>
          <p:nvPr/>
        </p:nvSpPr>
        <p:spPr>
          <a:xfrm>
            <a:off x="749808" y="3035808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41B14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How do we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241B14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grow revenue?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675888" y="1783080"/>
            <a:ext cx="237744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3D6C2"/>
            </a:solidFill>
            <a:prstDash val="solid"/>
          </a:ln>
          <a:effectLst>
            <a:outerShdw sx="100000" sy="100000" kx="0" ky="0" algn="bl" rotWithShape="0" blurRad="88900" dist="38100" dir="8100000">
              <a:srgbClr val="241B14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675888" y="1783080"/>
            <a:ext cx="73152" cy="640080"/>
          </a:xfrm>
          <a:prstGeom prst="rect">
            <a:avLst/>
          </a:prstGeom>
          <a:solidFill>
            <a:srgbClr val="5FAE7E"/>
          </a:solidFill>
          <a:ln/>
        </p:spPr>
      </p:sp>
      <p:sp>
        <p:nvSpPr>
          <p:cNvPr id="11" name="Text 9"/>
          <p:cNvSpPr/>
          <p:nvPr/>
        </p:nvSpPr>
        <p:spPr>
          <a:xfrm>
            <a:off x="3858768" y="178308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41B14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New customers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035808" y="3383280"/>
            <a:ext cx="640080" cy="0"/>
          </a:xfrm>
          <a:prstGeom prst="line">
            <a:avLst/>
          </a:prstGeom>
          <a:noFill/>
          <a:ln w="12700">
            <a:solidFill>
              <a:srgbClr val="CDBBA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74974" y="2103120"/>
            <a:ext cx="0" cy="1280160"/>
          </a:xfrm>
          <a:prstGeom prst="line">
            <a:avLst/>
          </a:prstGeom>
          <a:noFill/>
          <a:ln w="12700">
            <a:solidFill>
              <a:srgbClr val="CDBBA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327648" y="1645920"/>
            <a:ext cx="5297119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3D6C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10528" y="1645920"/>
            <a:ext cx="5022799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C4A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Expand to new segments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053328" y="2103120"/>
            <a:ext cx="274320" cy="0"/>
          </a:xfrm>
          <a:prstGeom prst="line">
            <a:avLst/>
          </a:prstGeom>
          <a:noFill/>
          <a:ln w="9525">
            <a:solidFill>
              <a:srgbClr val="E3D6C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327648" y="2212848"/>
            <a:ext cx="5297119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3D6C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510528" y="2212848"/>
            <a:ext cx="5022799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C4A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Increase win rate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053328" y="2103120"/>
            <a:ext cx="274320" cy="0"/>
          </a:xfrm>
          <a:prstGeom prst="line">
            <a:avLst/>
          </a:prstGeom>
          <a:noFill/>
          <a:ln w="9525">
            <a:solidFill>
              <a:srgbClr val="E3D6C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327648" y="2779776"/>
            <a:ext cx="5297119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3D6C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510528" y="2779776"/>
            <a:ext cx="5022799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C4A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Enter new geographies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6053328" y="2103120"/>
            <a:ext cx="274320" cy="0"/>
          </a:xfrm>
          <a:prstGeom prst="line">
            <a:avLst/>
          </a:prstGeom>
          <a:noFill/>
          <a:ln w="9525">
            <a:solidFill>
              <a:srgbClr val="E3D6C2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675888" y="3931920"/>
            <a:ext cx="237744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3D6C2"/>
            </a:solidFill>
            <a:prstDash val="solid"/>
          </a:ln>
          <a:effectLst>
            <a:outerShdw sx="100000" sy="100000" kx="0" ky="0" algn="bl" rotWithShape="0" blurRad="88900" dist="38100" dir="8100000">
              <a:srgbClr val="241B14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3675888" y="3931920"/>
            <a:ext cx="73152" cy="640080"/>
          </a:xfrm>
          <a:prstGeom prst="rect">
            <a:avLst/>
          </a:prstGeom>
          <a:solidFill>
            <a:srgbClr val="7A5C8E"/>
          </a:solidFill>
          <a:ln/>
        </p:spPr>
      </p:sp>
      <p:sp>
        <p:nvSpPr>
          <p:cNvPr id="25" name="Text 23"/>
          <p:cNvSpPr/>
          <p:nvPr/>
        </p:nvSpPr>
        <p:spPr>
          <a:xfrm>
            <a:off x="3858768" y="393192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41B14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Existing customers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3035808" y="3383280"/>
            <a:ext cx="640080" cy="0"/>
          </a:xfrm>
          <a:prstGeom prst="line">
            <a:avLst/>
          </a:prstGeom>
          <a:noFill/>
          <a:ln w="12700">
            <a:solidFill>
              <a:srgbClr val="CDBBA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674974" y="3383280"/>
            <a:ext cx="0" cy="868680"/>
          </a:xfrm>
          <a:prstGeom prst="line">
            <a:avLst/>
          </a:prstGeom>
          <a:noFill/>
          <a:ln w="12700">
            <a:solidFill>
              <a:srgbClr val="CDBBA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327648" y="3794760"/>
            <a:ext cx="5297119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3D6C2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510528" y="3794760"/>
            <a:ext cx="5022799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C4A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Reduce churn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6053328" y="4251960"/>
            <a:ext cx="274320" cy="0"/>
          </a:xfrm>
          <a:prstGeom prst="line">
            <a:avLst/>
          </a:prstGeom>
          <a:noFill/>
          <a:ln w="9525">
            <a:solidFill>
              <a:srgbClr val="E3D6C2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327648" y="4361688"/>
            <a:ext cx="5297119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3D6C2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510528" y="4361688"/>
            <a:ext cx="5022799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C4A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Upsell / cross-sell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6053328" y="4251960"/>
            <a:ext cx="274320" cy="0"/>
          </a:xfrm>
          <a:prstGeom prst="line">
            <a:avLst/>
          </a:prstGeom>
          <a:noFill/>
          <a:ln w="9525">
            <a:solidFill>
              <a:srgbClr val="E3D6C2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327648" y="4928616"/>
            <a:ext cx="5297119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3D6C2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510528" y="4928616"/>
            <a:ext cx="5022799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C4A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Raise net pricing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>
            <a:off x="6053328" y="4251960"/>
            <a:ext cx="274320" cy="0"/>
          </a:xfrm>
          <a:prstGeom prst="line">
            <a:avLst/>
          </a:prstGeom>
          <a:noFill/>
          <a:ln w="9525">
            <a:solidFill>
              <a:srgbClr val="E3D6C2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66928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C8B7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Arun Teja Kamisetti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10710367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8B77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09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D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75488"/>
            <a:ext cx="146304" cy="146304"/>
          </a:xfrm>
          <a:prstGeom prst="ellipse">
            <a:avLst/>
          </a:prstGeom>
          <a:solidFill>
            <a:srgbClr val="FF6A2B"/>
          </a:solidFill>
          <a:ln/>
        </p:spPr>
      </p:sp>
      <p:sp>
        <p:nvSpPr>
          <p:cNvPr id="3" name="Text 1"/>
          <p:cNvSpPr/>
          <p:nvPr/>
        </p:nvSpPr>
        <p:spPr>
          <a:xfrm>
            <a:off x="804672" y="402336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6A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CUSTOMER JOURNEY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66928" y="713232"/>
            <a:ext cx="11057839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41B14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End-to-end journey map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66928" y="1426464"/>
            <a:ext cx="11057839" cy="0"/>
          </a:xfrm>
          <a:prstGeom prst="line">
            <a:avLst/>
          </a:prstGeom>
          <a:noFill/>
          <a:ln w="12700">
            <a:solidFill>
              <a:srgbClr val="E3D6C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801368" y="1737360"/>
            <a:ext cx="1803745" cy="457200"/>
          </a:xfrm>
          <a:prstGeom prst="rect">
            <a:avLst/>
          </a:prstGeom>
          <a:solidFill>
            <a:srgbClr val="5FAE7E"/>
          </a:solidFill>
          <a:ln/>
        </p:spPr>
      </p:sp>
      <p:sp>
        <p:nvSpPr>
          <p:cNvPr id="7" name="Text 5"/>
          <p:cNvSpPr/>
          <p:nvPr/>
        </p:nvSpPr>
        <p:spPr>
          <a:xfrm>
            <a:off x="1801368" y="1737360"/>
            <a:ext cx="180374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1. Awareness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806281" y="1737360"/>
            <a:ext cx="1803745" cy="457200"/>
          </a:xfrm>
          <a:prstGeom prst="rect">
            <a:avLst/>
          </a:prstGeom>
          <a:solidFill>
            <a:srgbClr val="E0A53C"/>
          </a:solidFill>
          <a:ln/>
        </p:spPr>
      </p:sp>
      <p:sp>
        <p:nvSpPr>
          <p:cNvPr id="9" name="Text 7"/>
          <p:cNvSpPr/>
          <p:nvPr/>
        </p:nvSpPr>
        <p:spPr>
          <a:xfrm>
            <a:off x="3806281" y="1737360"/>
            <a:ext cx="180374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2. Consideration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811195" y="1737360"/>
            <a:ext cx="1803745" cy="457200"/>
          </a:xfrm>
          <a:prstGeom prst="rect">
            <a:avLst/>
          </a:prstGeom>
          <a:solidFill>
            <a:srgbClr val="FF6A2B"/>
          </a:solidFill>
          <a:ln/>
        </p:spPr>
      </p:sp>
      <p:sp>
        <p:nvSpPr>
          <p:cNvPr id="11" name="Text 9"/>
          <p:cNvSpPr/>
          <p:nvPr/>
        </p:nvSpPr>
        <p:spPr>
          <a:xfrm>
            <a:off x="5811195" y="1737360"/>
            <a:ext cx="180374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3. Onboarding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7816108" y="1737360"/>
            <a:ext cx="1803745" cy="457200"/>
          </a:xfrm>
          <a:prstGeom prst="rect">
            <a:avLst/>
          </a:prstGeom>
          <a:solidFill>
            <a:srgbClr val="7A5C8E"/>
          </a:solidFill>
          <a:ln/>
        </p:spPr>
      </p:sp>
      <p:sp>
        <p:nvSpPr>
          <p:cNvPr id="13" name="Text 11"/>
          <p:cNvSpPr/>
          <p:nvPr/>
        </p:nvSpPr>
        <p:spPr>
          <a:xfrm>
            <a:off x="7816108" y="1737360"/>
            <a:ext cx="180374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4. Adoption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9821022" y="1737360"/>
            <a:ext cx="1803745" cy="457200"/>
          </a:xfrm>
          <a:prstGeom prst="rect">
            <a:avLst/>
          </a:prstGeom>
          <a:solidFill>
            <a:srgbClr val="5FAE7E"/>
          </a:solidFill>
          <a:ln/>
        </p:spPr>
      </p:sp>
      <p:sp>
        <p:nvSpPr>
          <p:cNvPr id="15" name="Text 13"/>
          <p:cNvSpPr/>
          <p:nvPr/>
        </p:nvSpPr>
        <p:spPr>
          <a:xfrm>
            <a:off x="9821022" y="1737360"/>
            <a:ext cx="180374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5. Advocacy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21208" y="2286000"/>
            <a:ext cx="11887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41B1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Actions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01368" y="2286000"/>
            <a:ext cx="1803745" cy="676656"/>
          </a:xfrm>
          <a:prstGeom prst="rect">
            <a:avLst/>
          </a:prstGeom>
          <a:solidFill>
            <a:srgbClr val="FFFFFF"/>
          </a:solidFill>
          <a:ln w="6350">
            <a:solidFill>
              <a:srgbClr val="E3D6C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911096" y="2286000"/>
            <a:ext cx="1584289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4A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Searches for a solution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806281" y="2286000"/>
            <a:ext cx="1803745" cy="676656"/>
          </a:xfrm>
          <a:prstGeom prst="rect">
            <a:avLst/>
          </a:prstGeom>
          <a:solidFill>
            <a:srgbClr val="FFFFFF"/>
          </a:solidFill>
          <a:ln w="6350">
            <a:solidFill>
              <a:srgbClr val="E3D6C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916009" y="2286000"/>
            <a:ext cx="1584289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4A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Reads a benchmark blog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5811195" y="2286000"/>
            <a:ext cx="1803745" cy="676656"/>
          </a:xfrm>
          <a:prstGeom prst="rect">
            <a:avLst/>
          </a:prstGeom>
          <a:solidFill>
            <a:srgbClr val="FFFFFF"/>
          </a:solidFill>
          <a:ln w="6350">
            <a:solidFill>
              <a:srgbClr val="E3D6C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920923" y="2286000"/>
            <a:ext cx="1584289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4A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Signs up &amp; connects data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7816108" y="2286000"/>
            <a:ext cx="1803745" cy="676656"/>
          </a:xfrm>
          <a:prstGeom prst="rect">
            <a:avLst/>
          </a:prstGeom>
          <a:solidFill>
            <a:srgbClr val="FFFFFF"/>
          </a:solidFill>
          <a:ln w="6350">
            <a:solidFill>
              <a:srgbClr val="E3D6C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925836" y="2286000"/>
            <a:ext cx="1584289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4A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Runs first real eval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9821022" y="2286000"/>
            <a:ext cx="1803745" cy="676656"/>
          </a:xfrm>
          <a:prstGeom prst="rect">
            <a:avLst/>
          </a:prstGeom>
          <a:solidFill>
            <a:srgbClr val="FFFFFF"/>
          </a:solidFill>
          <a:ln w="6350">
            <a:solidFill>
              <a:srgbClr val="E3D6C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930750" y="2286000"/>
            <a:ext cx="1584289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4A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Shares results internally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521208" y="2999232"/>
            <a:ext cx="11887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41B1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Touchpoints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1801368" y="2999232"/>
            <a:ext cx="1803745" cy="676656"/>
          </a:xfrm>
          <a:prstGeom prst="rect">
            <a:avLst/>
          </a:prstGeom>
          <a:solidFill>
            <a:srgbClr val="F5EDE0"/>
          </a:solidFill>
          <a:ln w="6350">
            <a:solidFill>
              <a:srgbClr val="E3D6C2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911096" y="2999232"/>
            <a:ext cx="1584289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4A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Google · LinkedIn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3806281" y="2999232"/>
            <a:ext cx="1803745" cy="676656"/>
          </a:xfrm>
          <a:prstGeom prst="rect">
            <a:avLst/>
          </a:prstGeom>
          <a:solidFill>
            <a:srgbClr val="F5EDE0"/>
          </a:solidFill>
          <a:ln w="6350">
            <a:solidFill>
              <a:srgbClr val="E3D6C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916009" y="2999232"/>
            <a:ext cx="1584289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4A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Docs · case study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5811195" y="2999232"/>
            <a:ext cx="1803745" cy="676656"/>
          </a:xfrm>
          <a:prstGeom prst="rect">
            <a:avLst/>
          </a:prstGeom>
          <a:solidFill>
            <a:srgbClr val="F5EDE0"/>
          </a:solidFill>
          <a:ln w="6350">
            <a:solidFill>
              <a:srgbClr val="E3D6C2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920923" y="2999232"/>
            <a:ext cx="1584289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4A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Onboarding flow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7816108" y="2999232"/>
            <a:ext cx="1803745" cy="676656"/>
          </a:xfrm>
          <a:prstGeom prst="rect">
            <a:avLst/>
          </a:prstGeom>
          <a:solidFill>
            <a:srgbClr val="F5EDE0"/>
          </a:solidFill>
          <a:ln w="6350">
            <a:solidFill>
              <a:srgbClr val="E3D6C2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925836" y="2999232"/>
            <a:ext cx="1584289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4A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Dashboard · alerts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9821022" y="2999232"/>
            <a:ext cx="1803745" cy="676656"/>
          </a:xfrm>
          <a:prstGeom prst="rect">
            <a:avLst/>
          </a:prstGeom>
          <a:solidFill>
            <a:srgbClr val="F5EDE0"/>
          </a:solidFill>
          <a:ln w="6350">
            <a:solidFill>
              <a:srgbClr val="E3D6C2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9930750" y="2999232"/>
            <a:ext cx="1584289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4A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Reports · referrals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521208" y="3712464"/>
            <a:ext cx="11887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41B1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Emotion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1801368" y="3712464"/>
            <a:ext cx="1803745" cy="676656"/>
          </a:xfrm>
          <a:prstGeom prst="rect">
            <a:avLst/>
          </a:prstGeom>
          <a:solidFill>
            <a:srgbClr val="FFFFFF"/>
          </a:solidFill>
          <a:ln w="6350">
            <a:solidFill>
              <a:srgbClr val="E3D6C2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1965960" y="3959352"/>
            <a:ext cx="182880" cy="182880"/>
          </a:xfrm>
          <a:prstGeom prst="ellipse">
            <a:avLst/>
          </a:prstGeom>
          <a:solidFill>
            <a:srgbClr val="C2503A"/>
          </a:solidFill>
          <a:ln/>
        </p:spPr>
      </p:sp>
      <p:sp>
        <p:nvSpPr>
          <p:cNvPr id="41" name="Text 39"/>
          <p:cNvSpPr/>
          <p:nvPr/>
        </p:nvSpPr>
        <p:spPr>
          <a:xfrm>
            <a:off x="2221992" y="3712464"/>
            <a:ext cx="1300825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41B1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Frustrated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3806281" y="3712464"/>
            <a:ext cx="1803745" cy="676656"/>
          </a:xfrm>
          <a:prstGeom prst="rect">
            <a:avLst/>
          </a:prstGeom>
          <a:solidFill>
            <a:srgbClr val="FFFFFF"/>
          </a:solidFill>
          <a:ln w="6350">
            <a:solidFill>
              <a:srgbClr val="E3D6C2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3970873" y="3959352"/>
            <a:ext cx="182880" cy="182880"/>
          </a:xfrm>
          <a:prstGeom prst="ellipse">
            <a:avLst/>
          </a:prstGeom>
          <a:solidFill>
            <a:srgbClr val="E0A53C"/>
          </a:solidFill>
          <a:ln/>
        </p:spPr>
      </p:sp>
      <p:sp>
        <p:nvSpPr>
          <p:cNvPr id="44" name="Text 42"/>
          <p:cNvSpPr/>
          <p:nvPr/>
        </p:nvSpPr>
        <p:spPr>
          <a:xfrm>
            <a:off x="4226905" y="3712464"/>
            <a:ext cx="1300825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41B1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Curious</a:t>
            </a:r>
            <a:endParaRPr lang="en-US" sz="1050" dirty="0"/>
          </a:p>
        </p:txBody>
      </p:sp>
      <p:sp>
        <p:nvSpPr>
          <p:cNvPr id="45" name="Shape 43"/>
          <p:cNvSpPr/>
          <p:nvPr/>
        </p:nvSpPr>
        <p:spPr>
          <a:xfrm>
            <a:off x="5811195" y="3712464"/>
            <a:ext cx="1803745" cy="676656"/>
          </a:xfrm>
          <a:prstGeom prst="rect">
            <a:avLst/>
          </a:prstGeom>
          <a:solidFill>
            <a:srgbClr val="FFFFFF"/>
          </a:solidFill>
          <a:ln w="6350">
            <a:solidFill>
              <a:srgbClr val="E3D6C2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5975787" y="3959352"/>
            <a:ext cx="182880" cy="182880"/>
          </a:xfrm>
          <a:prstGeom prst="ellipse">
            <a:avLst/>
          </a:prstGeom>
          <a:solidFill>
            <a:srgbClr val="5FAE7E"/>
          </a:solidFill>
          <a:ln/>
        </p:spPr>
      </p:sp>
      <p:sp>
        <p:nvSpPr>
          <p:cNvPr id="47" name="Text 45"/>
          <p:cNvSpPr/>
          <p:nvPr/>
        </p:nvSpPr>
        <p:spPr>
          <a:xfrm>
            <a:off x="6231819" y="3712464"/>
            <a:ext cx="1300825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41B1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Hopeful</a:t>
            </a:r>
            <a:endParaRPr lang="en-US" sz="1050" dirty="0"/>
          </a:p>
        </p:txBody>
      </p:sp>
      <p:sp>
        <p:nvSpPr>
          <p:cNvPr id="48" name="Shape 46"/>
          <p:cNvSpPr/>
          <p:nvPr/>
        </p:nvSpPr>
        <p:spPr>
          <a:xfrm>
            <a:off x="7816108" y="3712464"/>
            <a:ext cx="1803745" cy="676656"/>
          </a:xfrm>
          <a:prstGeom prst="rect">
            <a:avLst/>
          </a:prstGeom>
          <a:solidFill>
            <a:srgbClr val="FFFFFF"/>
          </a:solidFill>
          <a:ln w="6350">
            <a:solidFill>
              <a:srgbClr val="E3D6C2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7980700" y="3959352"/>
            <a:ext cx="182880" cy="182880"/>
          </a:xfrm>
          <a:prstGeom prst="ellipse">
            <a:avLst/>
          </a:prstGeom>
          <a:solidFill>
            <a:srgbClr val="3E8E63"/>
          </a:solidFill>
          <a:ln/>
        </p:spPr>
      </p:sp>
      <p:sp>
        <p:nvSpPr>
          <p:cNvPr id="50" name="Text 48"/>
          <p:cNvSpPr/>
          <p:nvPr/>
        </p:nvSpPr>
        <p:spPr>
          <a:xfrm>
            <a:off x="8236732" y="3712464"/>
            <a:ext cx="1300825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41B1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Confident</a:t>
            </a:r>
            <a:endParaRPr lang="en-US" sz="1050" dirty="0"/>
          </a:p>
        </p:txBody>
      </p:sp>
      <p:sp>
        <p:nvSpPr>
          <p:cNvPr id="51" name="Shape 49"/>
          <p:cNvSpPr/>
          <p:nvPr/>
        </p:nvSpPr>
        <p:spPr>
          <a:xfrm>
            <a:off x="9821022" y="3712464"/>
            <a:ext cx="1803745" cy="676656"/>
          </a:xfrm>
          <a:prstGeom prst="rect">
            <a:avLst/>
          </a:prstGeom>
          <a:solidFill>
            <a:srgbClr val="FFFFFF"/>
          </a:solidFill>
          <a:ln w="6350">
            <a:solidFill>
              <a:srgbClr val="E3D6C2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9985614" y="3959352"/>
            <a:ext cx="182880" cy="182880"/>
          </a:xfrm>
          <a:prstGeom prst="ellipse">
            <a:avLst/>
          </a:prstGeom>
          <a:solidFill>
            <a:srgbClr val="FF6A2B"/>
          </a:solidFill>
          <a:ln/>
        </p:spPr>
      </p:sp>
      <p:sp>
        <p:nvSpPr>
          <p:cNvPr id="53" name="Text 51"/>
          <p:cNvSpPr/>
          <p:nvPr/>
        </p:nvSpPr>
        <p:spPr>
          <a:xfrm>
            <a:off x="10241646" y="3712464"/>
            <a:ext cx="1300825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41B1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Delighted</a:t>
            </a:r>
            <a:endParaRPr lang="en-US" sz="1050" dirty="0"/>
          </a:p>
        </p:txBody>
      </p:sp>
      <p:sp>
        <p:nvSpPr>
          <p:cNvPr id="54" name="Text 52"/>
          <p:cNvSpPr/>
          <p:nvPr/>
        </p:nvSpPr>
        <p:spPr>
          <a:xfrm>
            <a:off x="521208" y="4425696"/>
            <a:ext cx="11887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6A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Opportunity</a:t>
            </a:r>
            <a:endParaRPr lang="en-US" sz="1000" dirty="0"/>
          </a:p>
        </p:txBody>
      </p:sp>
      <p:sp>
        <p:nvSpPr>
          <p:cNvPr id="55" name="Shape 53"/>
          <p:cNvSpPr/>
          <p:nvPr/>
        </p:nvSpPr>
        <p:spPr>
          <a:xfrm>
            <a:off x="1801368" y="4425696"/>
            <a:ext cx="1803745" cy="676656"/>
          </a:xfrm>
          <a:prstGeom prst="rect">
            <a:avLst/>
          </a:prstGeom>
          <a:solidFill>
            <a:srgbClr val="FFEFE4"/>
          </a:solidFill>
          <a:ln w="6350">
            <a:solidFill>
              <a:srgbClr val="E3D6C2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1911096" y="4425696"/>
            <a:ext cx="1584289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6A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Clear POV content</a:t>
            </a:r>
            <a:endParaRPr lang="en-US" sz="1000" dirty="0"/>
          </a:p>
        </p:txBody>
      </p:sp>
      <p:sp>
        <p:nvSpPr>
          <p:cNvPr id="57" name="Shape 55"/>
          <p:cNvSpPr/>
          <p:nvPr/>
        </p:nvSpPr>
        <p:spPr>
          <a:xfrm>
            <a:off x="3806281" y="4425696"/>
            <a:ext cx="1803745" cy="676656"/>
          </a:xfrm>
          <a:prstGeom prst="rect">
            <a:avLst/>
          </a:prstGeom>
          <a:solidFill>
            <a:srgbClr val="FFEFE4"/>
          </a:solidFill>
          <a:ln w="6350">
            <a:solidFill>
              <a:srgbClr val="E3D6C2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3916009" y="4425696"/>
            <a:ext cx="1584289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6A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Proof &amp; social proof</a:t>
            </a:r>
            <a:endParaRPr lang="en-US" sz="1000" dirty="0"/>
          </a:p>
        </p:txBody>
      </p:sp>
      <p:sp>
        <p:nvSpPr>
          <p:cNvPr id="59" name="Shape 57"/>
          <p:cNvSpPr/>
          <p:nvPr/>
        </p:nvSpPr>
        <p:spPr>
          <a:xfrm>
            <a:off x="5811195" y="4425696"/>
            <a:ext cx="1803745" cy="676656"/>
          </a:xfrm>
          <a:prstGeom prst="rect">
            <a:avLst/>
          </a:prstGeom>
          <a:solidFill>
            <a:srgbClr val="FFEFE4"/>
          </a:solidFill>
          <a:ln w="6350">
            <a:solidFill>
              <a:srgbClr val="E3D6C2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5920923" y="4425696"/>
            <a:ext cx="1584289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6A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Fast time-to-value</a:t>
            </a:r>
            <a:endParaRPr lang="en-US" sz="1000" dirty="0"/>
          </a:p>
        </p:txBody>
      </p:sp>
      <p:sp>
        <p:nvSpPr>
          <p:cNvPr id="61" name="Shape 59"/>
          <p:cNvSpPr/>
          <p:nvPr/>
        </p:nvSpPr>
        <p:spPr>
          <a:xfrm>
            <a:off x="7816108" y="4425696"/>
            <a:ext cx="1803745" cy="676656"/>
          </a:xfrm>
          <a:prstGeom prst="rect">
            <a:avLst/>
          </a:prstGeom>
          <a:solidFill>
            <a:srgbClr val="FFEFE4"/>
          </a:solidFill>
          <a:ln w="6350">
            <a:solidFill>
              <a:srgbClr val="E3D6C2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7925836" y="4425696"/>
            <a:ext cx="1584289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6A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Nudge to 'aha'</a:t>
            </a:r>
            <a:endParaRPr lang="en-US" sz="1000" dirty="0"/>
          </a:p>
        </p:txBody>
      </p:sp>
      <p:sp>
        <p:nvSpPr>
          <p:cNvPr id="63" name="Shape 61"/>
          <p:cNvSpPr/>
          <p:nvPr/>
        </p:nvSpPr>
        <p:spPr>
          <a:xfrm>
            <a:off x="9821022" y="4425696"/>
            <a:ext cx="1803745" cy="676656"/>
          </a:xfrm>
          <a:prstGeom prst="rect">
            <a:avLst/>
          </a:prstGeom>
          <a:solidFill>
            <a:srgbClr val="FFEFE4"/>
          </a:solidFill>
          <a:ln w="6350">
            <a:solidFill>
              <a:srgbClr val="E3D6C2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9930750" y="4425696"/>
            <a:ext cx="1584289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6A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Make sharing easy</a:t>
            </a:r>
            <a:endParaRPr lang="en-US" sz="1000" dirty="0"/>
          </a:p>
        </p:txBody>
      </p:sp>
      <p:sp>
        <p:nvSpPr>
          <p:cNvPr id="65" name="Text 63"/>
          <p:cNvSpPr/>
          <p:nvPr/>
        </p:nvSpPr>
        <p:spPr>
          <a:xfrm>
            <a:off x="566928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C8B7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Arun Teja Kamisetti</a:t>
            </a:r>
            <a:endParaRPr lang="en-US" sz="850" dirty="0"/>
          </a:p>
        </p:txBody>
      </p:sp>
      <p:sp>
        <p:nvSpPr>
          <p:cNvPr id="66" name="Text 64"/>
          <p:cNvSpPr/>
          <p:nvPr/>
        </p:nvSpPr>
        <p:spPr>
          <a:xfrm>
            <a:off x="10710367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8B77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D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75488"/>
            <a:ext cx="146304" cy="146304"/>
          </a:xfrm>
          <a:prstGeom prst="ellipse">
            <a:avLst/>
          </a:prstGeom>
          <a:solidFill>
            <a:srgbClr val="FF6A2B"/>
          </a:solidFill>
          <a:ln/>
        </p:spPr>
      </p:sp>
      <p:sp>
        <p:nvSpPr>
          <p:cNvPr id="3" name="Text 1"/>
          <p:cNvSpPr/>
          <p:nvPr/>
        </p:nvSpPr>
        <p:spPr>
          <a:xfrm>
            <a:off x="804672" y="402336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6A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PRIORITIZATION · RICE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66928" y="713232"/>
            <a:ext cx="11057839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41B14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Reach × Impact × Confidence ÷ Effort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66928" y="1426464"/>
            <a:ext cx="11057839" cy="0"/>
          </a:xfrm>
          <a:prstGeom prst="line">
            <a:avLst/>
          </a:prstGeom>
          <a:noFill/>
          <a:ln w="12700">
            <a:solidFill>
              <a:srgbClr val="E3D6C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1783080"/>
            <a:ext cx="3108960" cy="457200"/>
          </a:xfrm>
          <a:prstGeom prst="rect">
            <a:avLst/>
          </a:prstGeom>
          <a:solidFill>
            <a:srgbClr val="241B14"/>
          </a:solidFill>
          <a:ln/>
        </p:spPr>
      </p:sp>
      <p:sp>
        <p:nvSpPr>
          <p:cNvPr id="7" name="Text 5"/>
          <p:cNvSpPr/>
          <p:nvPr/>
        </p:nvSpPr>
        <p:spPr>
          <a:xfrm>
            <a:off x="676656" y="178308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Initiative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75888" y="1783080"/>
            <a:ext cx="1097280" cy="457200"/>
          </a:xfrm>
          <a:prstGeom prst="rect">
            <a:avLst/>
          </a:prstGeom>
          <a:solidFill>
            <a:srgbClr val="241B14"/>
          </a:solidFill>
          <a:ln/>
        </p:spPr>
      </p:sp>
      <p:sp>
        <p:nvSpPr>
          <p:cNvPr id="9" name="Text 7"/>
          <p:cNvSpPr/>
          <p:nvPr/>
        </p:nvSpPr>
        <p:spPr>
          <a:xfrm>
            <a:off x="3785616" y="178308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Reach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773168" y="1783080"/>
            <a:ext cx="1097280" cy="457200"/>
          </a:xfrm>
          <a:prstGeom prst="rect">
            <a:avLst/>
          </a:prstGeom>
          <a:solidFill>
            <a:srgbClr val="241B14"/>
          </a:solidFill>
          <a:ln/>
        </p:spPr>
      </p:sp>
      <p:sp>
        <p:nvSpPr>
          <p:cNvPr id="11" name="Text 9"/>
          <p:cNvSpPr/>
          <p:nvPr/>
        </p:nvSpPr>
        <p:spPr>
          <a:xfrm>
            <a:off x="4882896" y="178308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Impact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870448" y="1783080"/>
            <a:ext cx="1554480" cy="457200"/>
          </a:xfrm>
          <a:prstGeom prst="rect">
            <a:avLst/>
          </a:prstGeom>
          <a:solidFill>
            <a:srgbClr val="241B14"/>
          </a:solidFill>
          <a:ln/>
        </p:spPr>
      </p:sp>
      <p:sp>
        <p:nvSpPr>
          <p:cNvPr id="13" name="Text 11"/>
          <p:cNvSpPr/>
          <p:nvPr/>
        </p:nvSpPr>
        <p:spPr>
          <a:xfrm>
            <a:off x="5980176" y="178308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Confidence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7424928" y="1783080"/>
            <a:ext cx="1097280" cy="457200"/>
          </a:xfrm>
          <a:prstGeom prst="rect">
            <a:avLst/>
          </a:prstGeom>
          <a:solidFill>
            <a:srgbClr val="241B14"/>
          </a:solidFill>
          <a:ln/>
        </p:spPr>
      </p:sp>
      <p:sp>
        <p:nvSpPr>
          <p:cNvPr id="15" name="Text 13"/>
          <p:cNvSpPr/>
          <p:nvPr/>
        </p:nvSpPr>
        <p:spPr>
          <a:xfrm>
            <a:off x="7534656" y="178308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Effort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8522208" y="1783080"/>
            <a:ext cx="1371600" cy="457200"/>
          </a:xfrm>
          <a:prstGeom prst="rect">
            <a:avLst/>
          </a:prstGeom>
          <a:solidFill>
            <a:srgbClr val="241B14"/>
          </a:solidFill>
          <a:ln/>
        </p:spPr>
      </p:sp>
      <p:sp>
        <p:nvSpPr>
          <p:cNvPr id="17" name="Text 15"/>
          <p:cNvSpPr/>
          <p:nvPr/>
        </p:nvSpPr>
        <p:spPr>
          <a:xfrm>
            <a:off x="8631936" y="178308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RICE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9893808" y="1783080"/>
            <a:ext cx="1554480" cy="457200"/>
          </a:xfrm>
          <a:prstGeom prst="rect">
            <a:avLst/>
          </a:prstGeom>
          <a:solidFill>
            <a:srgbClr val="241B14"/>
          </a:solidFill>
          <a:ln/>
        </p:spPr>
      </p:sp>
      <p:sp>
        <p:nvSpPr>
          <p:cNvPr id="19" name="Text 17"/>
          <p:cNvSpPr/>
          <p:nvPr/>
        </p:nvSpPr>
        <p:spPr>
          <a:xfrm>
            <a:off x="10003536" y="178308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Call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66928" y="2240280"/>
            <a:ext cx="310896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E3D6C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76656" y="2240280"/>
            <a:ext cx="2926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241B1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 eval scoring v1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3675888" y="2240280"/>
            <a:ext cx="109728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E3D6C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785616" y="2240280"/>
            <a:ext cx="914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241B1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8k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4773168" y="2240280"/>
            <a:ext cx="109728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E3D6C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82896" y="2240280"/>
            <a:ext cx="914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241B1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3.0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5870448" y="2240280"/>
            <a:ext cx="155448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E3D6C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980176" y="2240280"/>
            <a:ext cx="1371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241B1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90%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7424928" y="2240280"/>
            <a:ext cx="109728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E3D6C2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534656" y="2240280"/>
            <a:ext cx="914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241B1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8522208" y="2240280"/>
            <a:ext cx="137160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E3D6C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631936" y="2240280"/>
            <a:ext cx="1188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6A2B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4,320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9893808" y="2240280"/>
            <a:ext cx="155448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E3D6C2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10287000" y="2386584"/>
            <a:ext cx="415138" cy="292608"/>
          </a:xfrm>
          <a:prstGeom prst="roundRect">
            <a:avLst>
              <a:gd name="adj" fmla="val 50000"/>
            </a:avLst>
          </a:prstGeom>
          <a:solidFill>
            <a:srgbClr val="DCEFE3"/>
          </a:solidFill>
          <a:ln/>
        </p:spPr>
      </p:sp>
      <p:sp>
        <p:nvSpPr>
          <p:cNvPr id="34" name="Text 32"/>
          <p:cNvSpPr/>
          <p:nvPr/>
        </p:nvSpPr>
        <p:spPr>
          <a:xfrm>
            <a:off x="10287000" y="2382012"/>
            <a:ext cx="41513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41B1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Now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566928" y="2807208"/>
            <a:ext cx="3108960" cy="566928"/>
          </a:xfrm>
          <a:prstGeom prst="rect">
            <a:avLst/>
          </a:prstGeom>
          <a:solidFill>
            <a:srgbClr val="F5EDE0"/>
          </a:solidFill>
          <a:ln w="6350">
            <a:solidFill>
              <a:srgbClr val="E3D6C2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76656" y="2807208"/>
            <a:ext cx="2926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241B1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Guardrails layer</a:t>
            </a:r>
            <a:endParaRPr lang="en-US" sz="1150" dirty="0"/>
          </a:p>
        </p:txBody>
      </p:sp>
      <p:sp>
        <p:nvSpPr>
          <p:cNvPr id="37" name="Shape 35"/>
          <p:cNvSpPr/>
          <p:nvPr/>
        </p:nvSpPr>
        <p:spPr>
          <a:xfrm>
            <a:off x="3675888" y="2807208"/>
            <a:ext cx="1097280" cy="566928"/>
          </a:xfrm>
          <a:prstGeom prst="rect">
            <a:avLst/>
          </a:prstGeom>
          <a:solidFill>
            <a:srgbClr val="F5EDE0"/>
          </a:solidFill>
          <a:ln w="6350">
            <a:solidFill>
              <a:srgbClr val="E3D6C2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785616" y="2807208"/>
            <a:ext cx="914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241B1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6k</a:t>
            </a:r>
            <a:endParaRPr lang="en-US" sz="1150" dirty="0"/>
          </a:p>
        </p:txBody>
      </p:sp>
      <p:sp>
        <p:nvSpPr>
          <p:cNvPr id="39" name="Shape 37"/>
          <p:cNvSpPr/>
          <p:nvPr/>
        </p:nvSpPr>
        <p:spPr>
          <a:xfrm>
            <a:off x="4773168" y="2807208"/>
            <a:ext cx="1097280" cy="566928"/>
          </a:xfrm>
          <a:prstGeom prst="rect">
            <a:avLst/>
          </a:prstGeom>
          <a:solidFill>
            <a:srgbClr val="F5EDE0"/>
          </a:solidFill>
          <a:ln w="6350">
            <a:solidFill>
              <a:srgbClr val="E3D6C2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882896" y="2807208"/>
            <a:ext cx="914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241B1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2.0</a:t>
            </a:r>
            <a:endParaRPr lang="en-US" sz="1150" dirty="0"/>
          </a:p>
        </p:txBody>
      </p:sp>
      <p:sp>
        <p:nvSpPr>
          <p:cNvPr id="41" name="Shape 39"/>
          <p:cNvSpPr/>
          <p:nvPr/>
        </p:nvSpPr>
        <p:spPr>
          <a:xfrm>
            <a:off x="5870448" y="2807208"/>
            <a:ext cx="1554480" cy="566928"/>
          </a:xfrm>
          <a:prstGeom prst="rect">
            <a:avLst/>
          </a:prstGeom>
          <a:solidFill>
            <a:srgbClr val="F5EDE0"/>
          </a:solidFill>
          <a:ln w="6350">
            <a:solidFill>
              <a:srgbClr val="E3D6C2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980176" y="2807208"/>
            <a:ext cx="1371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241B1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80%</a:t>
            </a:r>
            <a:endParaRPr lang="en-US" sz="1150" dirty="0"/>
          </a:p>
        </p:txBody>
      </p:sp>
      <p:sp>
        <p:nvSpPr>
          <p:cNvPr id="43" name="Shape 41"/>
          <p:cNvSpPr/>
          <p:nvPr/>
        </p:nvSpPr>
        <p:spPr>
          <a:xfrm>
            <a:off x="7424928" y="2807208"/>
            <a:ext cx="1097280" cy="566928"/>
          </a:xfrm>
          <a:prstGeom prst="rect">
            <a:avLst/>
          </a:prstGeom>
          <a:solidFill>
            <a:srgbClr val="F5EDE0"/>
          </a:solidFill>
          <a:ln w="6350">
            <a:solidFill>
              <a:srgbClr val="E3D6C2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7534656" y="2807208"/>
            <a:ext cx="914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241B1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</a:t>
            </a:r>
            <a:endParaRPr lang="en-US" sz="1150" dirty="0"/>
          </a:p>
        </p:txBody>
      </p:sp>
      <p:sp>
        <p:nvSpPr>
          <p:cNvPr id="45" name="Shape 43"/>
          <p:cNvSpPr/>
          <p:nvPr/>
        </p:nvSpPr>
        <p:spPr>
          <a:xfrm>
            <a:off x="8522208" y="2807208"/>
            <a:ext cx="1371600" cy="566928"/>
          </a:xfrm>
          <a:prstGeom prst="rect">
            <a:avLst/>
          </a:prstGeom>
          <a:solidFill>
            <a:srgbClr val="F5EDE0"/>
          </a:solidFill>
          <a:ln w="6350">
            <a:solidFill>
              <a:srgbClr val="E3D6C2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8631936" y="2807208"/>
            <a:ext cx="1188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6A2B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2,400</a:t>
            </a:r>
            <a:endParaRPr lang="en-US" sz="1300" dirty="0"/>
          </a:p>
        </p:txBody>
      </p:sp>
      <p:sp>
        <p:nvSpPr>
          <p:cNvPr id="47" name="Shape 45"/>
          <p:cNvSpPr/>
          <p:nvPr/>
        </p:nvSpPr>
        <p:spPr>
          <a:xfrm>
            <a:off x="9893808" y="2807208"/>
            <a:ext cx="1554480" cy="566928"/>
          </a:xfrm>
          <a:prstGeom prst="rect">
            <a:avLst/>
          </a:prstGeom>
          <a:solidFill>
            <a:srgbClr val="F5EDE0"/>
          </a:solidFill>
          <a:ln w="6350">
            <a:solidFill>
              <a:srgbClr val="E3D6C2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10287000" y="2953512"/>
            <a:ext cx="415138" cy="292608"/>
          </a:xfrm>
          <a:prstGeom prst="roundRect">
            <a:avLst>
              <a:gd name="adj" fmla="val 50000"/>
            </a:avLst>
          </a:prstGeom>
          <a:solidFill>
            <a:srgbClr val="DCEFE3"/>
          </a:solidFill>
          <a:ln/>
        </p:spPr>
      </p:sp>
      <p:sp>
        <p:nvSpPr>
          <p:cNvPr id="49" name="Text 47"/>
          <p:cNvSpPr/>
          <p:nvPr/>
        </p:nvSpPr>
        <p:spPr>
          <a:xfrm>
            <a:off x="10287000" y="2948940"/>
            <a:ext cx="41513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41B1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Now</a:t>
            </a:r>
            <a:endParaRPr lang="en-US" sz="950" dirty="0"/>
          </a:p>
        </p:txBody>
      </p:sp>
      <p:sp>
        <p:nvSpPr>
          <p:cNvPr id="50" name="Shape 48"/>
          <p:cNvSpPr/>
          <p:nvPr/>
        </p:nvSpPr>
        <p:spPr>
          <a:xfrm>
            <a:off x="566928" y="3374136"/>
            <a:ext cx="310896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E3D6C2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76656" y="3374136"/>
            <a:ext cx="2926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241B1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Self-serve onboarding</a:t>
            </a:r>
            <a:endParaRPr lang="en-US" sz="1150" dirty="0"/>
          </a:p>
        </p:txBody>
      </p:sp>
      <p:sp>
        <p:nvSpPr>
          <p:cNvPr id="52" name="Shape 50"/>
          <p:cNvSpPr/>
          <p:nvPr/>
        </p:nvSpPr>
        <p:spPr>
          <a:xfrm>
            <a:off x="3675888" y="3374136"/>
            <a:ext cx="109728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E3D6C2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3785616" y="3374136"/>
            <a:ext cx="914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241B1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10k</a:t>
            </a:r>
            <a:endParaRPr lang="en-US" sz="1150" dirty="0"/>
          </a:p>
        </p:txBody>
      </p:sp>
      <p:sp>
        <p:nvSpPr>
          <p:cNvPr id="54" name="Shape 52"/>
          <p:cNvSpPr/>
          <p:nvPr/>
        </p:nvSpPr>
        <p:spPr>
          <a:xfrm>
            <a:off x="4773168" y="3374136"/>
            <a:ext cx="109728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E3D6C2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4882896" y="3374136"/>
            <a:ext cx="914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241B1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1.5</a:t>
            </a:r>
            <a:endParaRPr lang="en-US" sz="1150" dirty="0"/>
          </a:p>
        </p:txBody>
      </p:sp>
      <p:sp>
        <p:nvSpPr>
          <p:cNvPr id="56" name="Shape 54"/>
          <p:cNvSpPr/>
          <p:nvPr/>
        </p:nvSpPr>
        <p:spPr>
          <a:xfrm>
            <a:off x="5870448" y="3374136"/>
            <a:ext cx="155448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E3D6C2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5980176" y="3374136"/>
            <a:ext cx="1371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241B1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70%</a:t>
            </a:r>
            <a:endParaRPr lang="en-US" sz="1150" dirty="0"/>
          </a:p>
        </p:txBody>
      </p:sp>
      <p:sp>
        <p:nvSpPr>
          <p:cNvPr id="58" name="Shape 56"/>
          <p:cNvSpPr/>
          <p:nvPr/>
        </p:nvSpPr>
        <p:spPr>
          <a:xfrm>
            <a:off x="7424928" y="3374136"/>
            <a:ext cx="109728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E3D6C2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7534656" y="3374136"/>
            <a:ext cx="914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241B1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1150" dirty="0"/>
          </a:p>
        </p:txBody>
      </p:sp>
      <p:sp>
        <p:nvSpPr>
          <p:cNvPr id="60" name="Shape 58"/>
          <p:cNvSpPr/>
          <p:nvPr/>
        </p:nvSpPr>
        <p:spPr>
          <a:xfrm>
            <a:off x="8522208" y="3374136"/>
            <a:ext cx="137160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E3D6C2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8631936" y="3374136"/>
            <a:ext cx="1188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6A2B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3,500</a:t>
            </a:r>
            <a:endParaRPr lang="en-US" sz="1300" dirty="0"/>
          </a:p>
        </p:txBody>
      </p:sp>
      <p:sp>
        <p:nvSpPr>
          <p:cNvPr id="62" name="Shape 60"/>
          <p:cNvSpPr/>
          <p:nvPr/>
        </p:nvSpPr>
        <p:spPr>
          <a:xfrm>
            <a:off x="9893808" y="3374136"/>
            <a:ext cx="155448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E3D6C2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10287000" y="3520440"/>
            <a:ext cx="486461" cy="292608"/>
          </a:xfrm>
          <a:prstGeom prst="roundRect">
            <a:avLst>
              <a:gd name="adj" fmla="val 50000"/>
            </a:avLst>
          </a:prstGeom>
          <a:solidFill>
            <a:srgbClr val="FAEBCF"/>
          </a:solidFill>
          <a:ln/>
        </p:spPr>
      </p:sp>
      <p:sp>
        <p:nvSpPr>
          <p:cNvPr id="64" name="Text 62"/>
          <p:cNvSpPr/>
          <p:nvPr/>
        </p:nvSpPr>
        <p:spPr>
          <a:xfrm>
            <a:off x="10287000" y="3515868"/>
            <a:ext cx="486461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41B1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Next</a:t>
            </a:r>
            <a:endParaRPr lang="en-US" sz="950" dirty="0"/>
          </a:p>
        </p:txBody>
      </p:sp>
      <p:sp>
        <p:nvSpPr>
          <p:cNvPr id="65" name="Shape 63"/>
          <p:cNvSpPr/>
          <p:nvPr/>
        </p:nvSpPr>
        <p:spPr>
          <a:xfrm>
            <a:off x="566928" y="3941064"/>
            <a:ext cx="3108960" cy="566928"/>
          </a:xfrm>
          <a:prstGeom prst="rect">
            <a:avLst/>
          </a:prstGeom>
          <a:solidFill>
            <a:srgbClr val="F5EDE0"/>
          </a:solidFill>
          <a:ln w="6350">
            <a:solidFill>
              <a:srgbClr val="E3D6C2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676656" y="3941064"/>
            <a:ext cx="2926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241B1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Marketplace integ.</a:t>
            </a:r>
            <a:endParaRPr lang="en-US" sz="1150" dirty="0"/>
          </a:p>
        </p:txBody>
      </p:sp>
      <p:sp>
        <p:nvSpPr>
          <p:cNvPr id="67" name="Shape 65"/>
          <p:cNvSpPr/>
          <p:nvPr/>
        </p:nvSpPr>
        <p:spPr>
          <a:xfrm>
            <a:off x="3675888" y="3941064"/>
            <a:ext cx="1097280" cy="566928"/>
          </a:xfrm>
          <a:prstGeom prst="rect">
            <a:avLst/>
          </a:prstGeom>
          <a:solidFill>
            <a:srgbClr val="F5EDE0"/>
          </a:solidFill>
          <a:ln w="6350">
            <a:solidFill>
              <a:srgbClr val="E3D6C2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3785616" y="3941064"/>
            <a:ext cx="914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241B1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4k</a:t>
            </a:r>
            <a:endParaRPr lang="en-US" sz="1150" dirty="0"/>
          </a:p>
        </p:txBody>
      </p:sp>
      <p:sp>
        <p:nvSpPr>
          <p:cNvPr id="69" name="Shape 67"/>
          <p:cNvSpPr/>
          <p:nvPr/>
        </p:nvSpPr>
        <p:spPr>
          <a:xfrm>
            <a:off x="4773168" y="3941064"/>
            <a:ext cx="1097280" cy="566928"/>
          </a:xfrm>
          <a:prstGeom prst="rect">
            <a:avLst/>
          </a:prstGeom>
          <a:solidFill>
            <a:srgbClr val="F5EDE0"/>
          </a:solidFill>
          <a:ln w="6350">
            <a:solidFill>
              <a:srgbClr val="E3D6C2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4882896" y="3941064"/>
            <a:ext cx="914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241B1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2.0</a:t>
            </a:r>
            <a:endParaRPr lang="en-US" sz="1150" dirty="0"/>
          </a:p>
        </p:txBody>
      </p:sp>
      <p:sp>
        <p:nvSpPr>
          <p:cNvPr id="71" name="Shape 69"/>
          <p:cNvSpPr/>
          <p:nvPr/>
        </p:nvSpPr>
        <p:spPr>
          <a:xfrm>
            <a:off x="5870448" y="3941064"/>
            <a:ext cx="1554480" cy="566928"/>
          </a:xfrm>
          <a:prstGeom prst="rect">
            <a:avLst/>
          </a:prstGeom>
          <a:solidFill>
            <a:srgbClr val="F5EDE0"/>
          </a:solidFill>
          <a:ln w="6350">
            <a:solidFill>
              <a:srgbClr val="E3D6C2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5980176" y="3941064"/>
            <a:ext cx="1371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241B1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50%</a:t>
            </a:r>
            <a:endParaRPr lang="en-US" sz="1150" dirty="0"/>
          </a:p>
        </p:txBody>
      </p:sp>
      <p:sp>
        <p:nvSpPr>
          <p:cNvPr id="73" name="Shape 71"/>
          <p:cNvSpPr/>
          <p:nvPr/>
        </p:nvSpPr>
        <p:spPr>
          <a:xfrm>
            <a:off x="7424928" y="3941064"/>
            <a:ext cx="1097280" cy="566928"/>
          </a:xfrm>
          <a:prstGeom prst="rect">
            <a:avLst/>
          </a:prstGeom>
          <a:solidFill>
            <a:srgbClr val="F5EDE0"/>
          </a:solidFill>
          <a:ln w="6350">
            <a:solidFill>
              <a:srgbClr val="E3D6C2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7534656" y="3941064"/>
            <a:ext cx="914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241B1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</a:t>
            </a:r>
            <a:endParaRPr lang="en-US" sz="1150" dirty="0"/>
          </a:p>
        </p:txBody>
      </p:sp>
      <p:sp>
        <p:nvSpPr>
          <p:cNvPr id="75" name="Shape 73"/>
          <p:cNvSpPr/>
          <p:nvPr/>
        </p:nvSpPr>
        <p:spPr>
          <a:xfrm>
            <a:off x="8522208" y="3941064"/>
            <a:ext cx="1371600" cy="566928"/>
          </a:xfrm>
          <a:prstGeom prst="rect">
            <a:avLst/>
          </a:prstGeom>
          <a:solidFill>
            <a:srgbClr val="F5EDE0"/>
          </a:solidFill>
          <a:ln w="6350">
            <a:solidFill>
              <a:srgbClr val="E3D6C2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8631936" y="3941064"/>
            <a:ext cx="1188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6A2B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500</a:t>
            </a:r>
            <a:endParaRPr lang="en-US" sz="1300" dirty="0"/>
          </a:p>
        </p:txBody>
      </p:sp>
      <p:sp>
        <p:nvSpPr>
          <p:cNvPr id="77" name="Shape 75"/>
          <p:cNvSpPr/>
          <p:nvPr/>
        </p:nvSpPr>
        <p:spPr>
          <a:xfrm>
            <a:off x="9893808" y="3941064"/>
            <a:ext cx="1554480" cy="566928"/>
          </a:xfrm>
          <a:prstGeom prst="rect">
            <a:avLst/>
          </a:prstGeom>
          <a:solidFill>
            <a:srgbClr val="F5EDE0"/>
          </a:solidFill>
          <a:ln w="6350">
            <a:solidFill>
              <a:srgbClr val="E3D6C2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10287000" y="4087368"/>
            <a:ext cx="557784" cy="292608"/>
          </a:xfrm>
          <a:prstGeom prst="roundRect">
            <a:avLst>
              <a:gd name="adj" fmla="val 50000"/>
            </a:avLst>
          </a:prstGeom>
          <a:solidFill>
            <a:srgbClr val="EAE0F0"/>
          </a:solidFill>
          <a:ln/>
        </p:spPr>
      </p:sp>
      <p:sp>
        <p:nvSpPr>
          <p:cNvPr id="79" name="Text 77"/>
          <p:cNvSpPr/>
          <p:nvPr/>
        </p:nvSpPr>
        <p:spPr>
          <a:xfrm>
            <a:off x="10287000" y="4082796"/>
            <a:ext cx="55778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41B1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Later</a:t>
            </a:r>
            <a:endParaRPr lang="en-US" sz="950" dirty="0"/>
          </a:p>
        </p:txBody>
      </p:sp>
      <p:sp>
        <p:nvSpPr>
          <p:cNvPr id="80" name="Shape 78"/>
          <p:cNvSpPr/>
          <p:nvPr/>
        </p:nvSpPr>
        <p:spPr>
          <a:xfrm>
            <a:off x="566928" y="4507992"/>
            <a:ext cx="310896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E3D6C2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676656" y="4507992"/>
            <a:ext cx="2926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241B1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White-label mode</a:t>
            </a:r>
            <a:endParaRPr lang="en-US" sz="1150" dirty="0"/>
          </a:p>
        </p:txBody>
      </p:sp>
      <p:sp>
        <p:nvSpPr>
          <p:cNvPr id="82" name="Shape 80"/>
          <p:cNvSpPr/>
          <p:nvPr/>
        </p:nvSpPr>
        <p:spPr>
          <a:xfrm>
            <a:off x="3675888" y="4507992"/>
            <a:ext cx="109728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E3D6C2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3785616" y="4507992"/>
            <a:ext cx="914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241B1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2k</a:t>
            </a:r>
            <a:endParaRPr lang="en-US" sz="1150" dirty="0"/>
          </a:p>
        </p:txBody>
      </p:sp>
      <p:sp>
        <p:nvSpPr>
          <p:cNvPr id="84" name="Shape 82"/>
          <p:cNvSpPr/>
          <p:nvPr/>
        </p:nvSpPr>
        <p:spPr>
          <a:xfrm>
            <a:off x="4773168" y="4507992"/>
            <a:ext cx="109728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E3D6C2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4882896" y="4507992"/>
            <a:ext cx="914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241B1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1.0</a:t>
            </a:r>
            <a:endParaRPr lang="en-US" sz="1150" dirty="0"/>
          </a:p>
        </p:txBody>
      </p:sp>
      <p:sp>
        <p:nvSpPr>
          <p:cNvPr id="86" name="Shape 84"/>
          <p:cNvSpPr/>
          <p:nvPr/>
        </p:nvSpPr>
        <p:spPr>
          <a:xfrm>
            <a:off x="5870448" y="4507992"/>
            <a:ext cx="155448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E3D6C2"/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5980176" y="4507992"/>
            <a:ext cx="1371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241B1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60%</a:t>
            </a:r>
            <a:endParaRPr lang="en-US" sz="1150" dirty="0"/>
          </a:p>
        </p:txBody>
      </p:sp>
      <p:sp>
        <p:nvSpPr>
          <p:cNvPr id="88" name="Shape 86"/>
          <p:cNvSpPr/>
          <p:nvPr/>
        </p:nvSpPr>
        <p:spPr>
          <a:xfrm>
            <a:off x="7424928" y="4507992"/>
            <a:ext cx="109728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E3D6C2"/>
            </a:solidFill>
            <a:prstDash val="solid"/>
          </a:ln>
        </p:spPr>
      </p:sp>
      <p:sp>
        <p:nvSpPr>
          <p:cNvPr id="89" name="Text 87"/>
          <p:cNvSpPr/>
          <p:nvPr/>
        </p:nvSpPr>
        <p:spPr>
          <a:xfrm>
            <a:off x="7534656" y="4507992"/>
            <a:ext cx="914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241B1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</a:t>
            </a:r>
            <a:endParaRPr lang="en-US" sz="1150" dirty="0"/>
          </a:p>
        </p:txBody>
      </p:sp>
      <p:sp>
        <p:nvSpPr>
          <p:cNvPr id="90" name="Shape 88"/>
          <p:cNvSpPr/>
          <p:nvPr/>
        </p:nvSpPr>
        <p:spPr>
          <a:xfrm>
            <a:off x="8522208" y="4507992"/>
            <a:ext cx="137160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E3D6C2"/>
            </a:solidFill>
            <a:prstDash val="solid"/>
          </a:ln>
        </p:spPr>
      </p:sp>
      <p:sp>
        <p:nvSpPr>
          <p:cNvPr id="91" name="Text 89"/>
          <p:cNvSpPr/>
          <p:nvPr/>
        </p:nvSpPr>
        <p:spPr>
          <a:xfrm>
            <a:off x="8631936" y="4507992"/>
            <a:ext cx="1188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6A2B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200</a:t>
            </a:r>
            <a:endParaRPr lang="en-US" sz="1300" dirty="0"/>
          </a:p>
        </p:txBody>
      </p:sp>
      <p:sp>
        <p:nvSpPr>
          <p:cNvPr id="92" name="Shape 90"/>
          <p:cNvSpPr/>
          <p:nvPr/>
        </p:nvSpPr>
        <p:spPr>
          <a:xfrm>
            <a:off x="9893808" y="4507992"/>
            <a:ext cx="155448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E3D6C2"/>
            </a:solidFill>
            <a:prstDash val="solid"/>
          </a:ln>
        </p:spPr>
      </p:sp>
      <p:sp>
        <p:nvSpPr>
          <p:cNvPr id="93" name="Shape 91"/>
          <p:cNvSpPr/>
          <p:nvPr/>
        </p:nvSpPr>
        <p:spPr>
          <a:xfrm>
            <a:off x="10287000" y="4654296"/>
            <a:ext cx="557784" cy="292608"/>
          </a:xfrm>
          <a:prstGeom prst="roundRect">
            <a:avLst>
              <a:gd name="adj" fmla="val 50000"/>
            </a:avLst>
          </a:prstGeom>
          <a:solidFill>
            <a:srgbClr val="EAE0F0"/>
          </a:solidFill>
          <a:ln/>
        </p:spPr>
      </p:sp>
      <p:sp>
        <p:nvSpPr>
          <p:cNvPr id="94" name="Text 92"/>
          <p:cNvSpPr/>
          <p:nvPr/>
        </p:nvSpPr>
        <p:spPr>
          <a:xfrm>
            <a:off x="10287000" y="4649724"/>
            <a:ext cx="55778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41B1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Later</a:t>
            </a:r>
            <a:endParaRPr lang="en-US" sz="950" dirty="0"/>
          </a:p>
        </p:txBody>
      </p:sp>
      <p:sp>
        <p:nvSpPr>
          <p:cNvPr id="95" name="Text 93"/>
          <p:cNvSpPr/>
          <p:nvPr/>
        </p:nvSpPr>
        <p:spPr>
          <a:xfrm>
            <a:off x="566928" y="5184648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9C8B7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RICE = (Reach × Impact × Confidence) ÷ Effort. Sort descending; draw the line where capacity runs out.</a:t>
            </a:r>
            <a:endParaRPr lang="en-US" sz="1050" dirty="0"/>
          </a:p>
        </p:txBody>
      </p:sp>
      <p:sp>
        <p:nvSpPr>
          <p:cNvPr id="96" name="Text 94"/>
          <p:cNvSpPr/>
          <p:nvPr/>
        </p:nvSpPr>
        <p:spPr>
          <a:xfrm>
            <a:off x="566928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C8B7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Arun Teja Kamisetti</a:t>
            </a:r>
            <a:endParaRPr lang="en-US" sz="850" dirty="0"/>
          </a:p>
        </p:txBody>
      </p:sp>
      <p:sp>
        <p:nvSpPr>
          <p:cNvPr id="97" name="Text 95"/>
          <p:cNvSpPr/>
          <p:nvPr/>
        </p:nvSpPr>
        <p:spPr>
          <a:xfrm>
            <a:off x="10710367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8B77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D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75488"/>
            <a:ext cx="146304" cy="146304"/>
          </a:xfrm>
          <a:prstGeom prst="ellipse">
            <a:avLst/>
          </a:prstGeom>
          <a:solidFill>
            <a:srgbClr val="FF6A2B"/>
          </a:solidFill>
          <a:ln/>
        </p:spPr>
      </p:sp>
      <p:sp>
        <p:nvSpPr>
          <p:cNvPr id="3" name="Text 1"/>
          <p:cNvSpPr/>
          <p:nvPr/>
        </p:nvSpPr>
        <p:spPr>
          <a:xfrm>
            <a:off x="804672" y="402336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6A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ROADMAP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66928" y="713232"/>
            <a:ext cx="11057839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41B14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Now · Next · Later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66928" y="1426464"/>
            <a:ext cx="11057839" cy="0"/>
          </a:xfrm>
          <a:prstGeom prst="line">
            <a:avLst/>
          </a:prstGeom>
          <a:noFill/>
          <a:ln w="12700">
            <a:solidFill>
              <a:srgbClr val="E3D6C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1783080"/>
            <a:ext cx="3472586" cy="566928"/>
          </a:xfrm>
          <a:prstGeom prst="rect">
            <a:avLst/>
          </a:prstGeom>
          <a:solidFill>
            <a:srgbClr val="FF6A2B"/>
          </a:solidFill>
          <a:ln/>
        </p:spPr>
      </p:sp>
      <p:sp>
        <p:nvSpPr>
          <p:cNvPr id="7" name="Text 5"/>
          <p:cNvSpPr/>
          <p:nvPr/>
        </p:nvSpPr>
        <p:spPr>
          <a:xfrm>
            <a:off x="795528" y="1783080"/>
            <a:ext cx="210098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NOW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2210714" y="1783080"/>
            <a:ext cx="1645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This quarter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566928" y="2395728"/>
            <a:ext cx="3472586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3D6C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49808" y="2606040"/>
            <a:ext cx="3106826" cy="731520"/>
          </a:xfrm>
          <a:prstGeom prst="rect">
            <a:avLst/>
          </a:prstGeom>
          <a:solidFill>
            <a:srgbClr val="F5EDE0"/>
          </a:solidFill>
          <a:ln w="12700">
            <a:solidFill>
              <a:srgbClr val="E3D6C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49808" y="2606040"/>
            <a:ext cx="73152" cy="731520"/>
          </a:xfrm>
          <a:prstGeom prst="rect">
            <a:avLst/>
          </a:prstGeom>
          <a:solidFill>
            <a:srgbClr val="FF6A2B"/>
          </a:solidFill>
          <a:ln/>
        </p:spPr>
      </p:sp>
      <p:sp>
        <p:nvSpPr>
          <p:cNvPr id="12" name="Text 10"/>
          <p:cNvSpPr/>
          <p:nvPr/>
        </p:nvSpPr>
        <p:spPr>
          <a:xfrm>
            <a:off x="932688" y="2606040"/>
            <a:ext cx="283250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41B14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AI eval scoring v1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49808" y="3520440"/>
            <a:ext cx="3106826" cy="731520"/>
          </a:xfrm>
          <a:prstGeom prst="rect">
            <a:avLst/>
          </a:prstGeom>
          <a:solidFill>
            <a:srgbClr val="F5EDE0"/>
          </a:solidFill>
          <a:ln w="12700">
            <a:solidFill>
              <a:srgbClr val="E3D6C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49808" y="3520440"/>
            <a:ext cx="73152" cy="731520"/>
          </a:xfrm>
          <a:prstGeom prst="rect">
            <a:avLst/>
          </a:prstGeom>
          <a:solidFill>
            <a:srgbClr val="FF6A2B"/>
          </a:solidFill>
          <a:ln/>
        </p:spPr>
      </p:sp>
      <p:sp>
        <p:nvSpPr>
          <p:cNvPr id="15" name="Text 13"/>
          <p:cNvSpPr/>
          <p:nvPr/>
        </p:nvSpPr>
        <p:spPr>
          <a:xfrm>
            <a:off x="932688" y="3520440"/>
            <a:ext cx="283250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41B14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Guardrails layer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749808" y="4434840"/>
            <a:ext cx="3106826" cy="731520"/>
          </a:xfrm>
          <a:prstGeom prst="rect">
            <a:avLst/>
          </a:prstGeom>
          <a:solidFill>
            <a:srgbClr val="F5EDE0"/>
          </a:solidFill>
          <a:ln w="12700">
            <a:solidFill>
              <a:srgbClr val="E3D6C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49808" y="4434840"/>
            <a:ext cx="73152" cy="731520"/>
          </a:xfrm>
          <a:prstGeom prst="rect">
            <a:avLst/>
          </a:prstGeom>
          <a:solidFill>
            <a:srgbClr val="FF6A2B"/>
          </a:solidFill>
          <a:ln/>
        </p:spPr>
      </p:sp>
      <p:sp>
        <p:nvSpPr>
          <p:cNvPr id="18" name="Text 16"/>
          <p:cNvSpPr/>
          <p:nvPr/>
        </p:nvSpPr>
        <p:spPr>
          <a:xfrm>
            <a:off x="932688" y="4434840"/>
            <a:ext cx="283250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41B14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Core dashboard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359554" y="1783080"/>
            <a:ext cx="3472586" cy="566928"/>
          </a:xfrm>
          <a:prstGeom prst="rect">
            <a:avLst/>
          </a:prstGeom>
          <a:solidFill>
            <a:srgbClr val="E0A53C"/>
          </a:solidFill>
          <a:ln/>
        </p:spPr>
      </p:sp>
      <p:sp>
        <p:nvSpPr>
          <p:cNvPr id="20" name="Text 18"/>
          <p:cNvSpPr/>
          <p:nvPr/>
        </p:nvSpPr>
        <p:spPr>
          <a:xfrm>
            <a:off x="4588154" y="1783080"/>
            <a:ext cx="210098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NEXT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003341" y="1783080"/>
            <a:ext cx="1645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1–2 quarters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359554" y="2395728"/>
            <a:ext cx="3472586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3D6C2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542434" y="2606040"/>
            <a:ext cx="3106826" cy="731520"/>
          </a:xfrm>
          <a:prstGeom prst="rect">
            <a:avLst/>
          </a:prstGeom>
          <a:solidFill>
            <a:srgbClr val="F5EDE0"/>
          </a:solidFill>
          <a:ln w="12700">
            <a:solidFill>
              <a:srgbClr val="E3D6C2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542434" y="2606040"/>
            <a:ext cx="73152" cy="731520"/>
          </a:xfrm>
          <a:prstGeom prst="rect">
            <a:avLst/>
          </a:prstGeom>
          <a:solidFill>
            <a:srgbClr val="E0A53C"/>
          </a:solidFill>
          <a:ln/>
        </p:spPr>
      </p:sp>
      <p:sp>
        <p:nvSpPr>
          <p:cNvPr id="25" name="Text 23"/>
          <p:cNvSpPr/>
          <p:nvPr/>
        </p:nvSpPr>
        <p:spPr>
          <a:xfrm>
            <a:off x="4725314" y="2606040"/>
            <a:ext cx="283250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41B14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Self-serve onboarding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4542434" y="3520440"/>
            <a:ext cx="3106826" cy="731520"/>
          </a:xfrm>
          <a:prstGeom prst="rect">
            <a:avLst/>
          </a:prstGeom>
          <a:solidFill>
            <a:srgbClr val="F5EDE0"/>
          </a:solidFill>
          <a:ln w="12700">
            <a:solidFill>
              <a:srgbClr val="E3D6C2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542434" y="3520440"/>
            <a:ext cx="73152" cy="731520"/>
          </a:xfrm>
          <a:prstGeom prst="rect">
            <a:avLst/>
          </a:prstGeom>
          <a:solidFill>
            <a:srgbClr val="E0A53C"/>
          </a:solidFill>
          <a:ln/>
        </p:spPr>
      </p:sp>
      <p:sp>
        <p:nvSpPr>
          <p:cNvPr id="28" name="Text 26"/>
          <p:cNvSpPr/>
          <p:nvPr/>
        </p:nvSpPr>
        <p:spPr>
          <a:xfrm>
            <a:off x="4725314" y="3520440"/>
            <a:ext cx="283250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41B14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Alerts &amp; reports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4542434" y="4434840"/>
            <a:ext cx="3106826" cy="731520"/>
          </a:xfrm>
          <a:prstGeom prst="rect">
            <a:avLst/>
          </a:prstGeom>
          <a:solidFill>
            <a:srgbClr val="F5EDE0"/>
          </a:solidFill>
          <a:ln w="12700">
            <a:solidFill>
              <a:srgbClr val="E3D6C2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542434" y="4434840"/>
            <a:ext cx="73152" cy="731520"/>
          </a:xfrm>
          <a:prstGeom prst="rect">
            <a:avLst/>
          </a:prstGeom>
          <a:solidFill>
            <a:srgbClr val="E0A53C"/>
          </a:solidFill>
          <a:ln/>
        </p:spPr>
      </p:sp>
      <p:sp>
        <p:nvSpPr>
          <p:cNvPr id="31" name="Text 29"/>
          <p:cNvSpPr/>
          <p:nvPr/>
        </p:nvSpPr>
        <p:spPr>
          <a:xfrm>
            <a:off x="4725314" y="4434840"/>
            <a:ext cx="283250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41B14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Team workspaces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8152181" y="1783080"/>
            <a:ext cx="3472586" cy="566928"/>
          </a:xfrm>
          <a:prstGeom prst="rect">
            <a:avLst/>
          </a:prstGeom>
          <a:solidFill>
            <a:srgbClr val="7A5C8E"/>
          </a:solidFill>
          <a:ln/>
        </p:spPr>
      </p:sp>
      <p:sp>
        <p:nvSpPr>
          <p:cNvPr id="33" name="Text 31"/>
          <p:cNvSpPr/>
          <p:nvPr/>
        </p:nvSpPr>
        <p:spPr>
          <a:xfrm>
            <a:off x="8380781" y="1783080"/>
            <a:ext cx="210098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LATER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9795967" y="1783080"/>
            <a:ext cx="1645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Exploratory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8152181" y="2395728"/>
            <a:ext cx="3472586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3D6C2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8335061" y="2606040"/>
            <a:ext cx="3106826" cy="731520"/>
          </a:xfrm>
          <a:prstGeom prst="rect">
            <a:avLst/>
          </a:prstGeom>
          <a:solidFill>
            <a:srgbClr val="F5EDE0"/>
          </a:solidFill>
          <a:ln w="12700">
            <a:solidFill>
              <a:srgbClr val="E3D6C2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8335061" y="2606040"/>
            <a:ext cx="73152" cy="731520"/>
          </a:xfrm>
          <a:prstGeom prst="rect">
            <a:avLst/>
          </a:prstGeom>
          <a:solidFill>
            <a:srgbClr val="7A5C8E"/>
          </a:solidFill>
          <a:ln/>
        </p:spPr>
      </p:sp>
      <p:sp>
        <p:nvSpPr>
          <p:cNvPr id="38" name="Text 36"/>
          <p:cNvSpPr/>
          <p:nvPr/>
        </p:nvSpPr>
        <p:spPr>
          <a:xfrm>
            <a:off x="8517941" y="2606040"/>
            <a:ext cx="283250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41B14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Marketplace integrations</a:t>
            </a:r>
            <a:endParaRPr lang="en-US" sz="1300" dirty="0"/>
          </a:p>
        </p:txBody>
      </p:sp>
      <p:sp>
        <p:nvSpPr>
          <p:cNvPr id="39" name="Shape 37"/>
          <p:cNvSpPr/>
          <p:nvPr/>
        </p:nvSpPr>
        <p:spPr>
          <a:xfrm>
            <a:off x="8335061" y="3520440"/>
            <a:ext cx="3106826" cy="731520"/>
          </a:xfrm>
          <a:prstGeom prst="rect">
            <a:avLst/>
          </a:prstGeom>
          <a:solidFill>
            <a:srgbClr val="F5EDE0"/>
          </a:solidFill>
          <a:ln w="12700">
            <a:solidFill>
              <a:srgbClr val="E3D6C2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8335061" y="3520440"/>
            <a:ext cx="73152" cy="731520"/>
          </a:xfrm>
          <a:prstGeom prst="rect">
            <a:avLst/>
          </a:prstGeom>
          <a:solidFill>
            <a:srgbClr val="7A5C8E"/>
          </a:solidFill>
          <a:ln/>
        </p:spPr>
      </p:sp>
      <p:sp>
        <p:nvSpPr>
          <p:cNvPr id="41" name="Text 39"/>
          <p:cNvSpPr/>
          <p:nvPr/>
        </p:nvSpPr>
        <p:spPr>
          <a:xfrm>
            <a:off x="8517941" y="3520440"/>
            <a:ext cx="283250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41B14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White-label</a:t>
            </a:r>
            <a:endParaRPr lang="en-US" sz="1300" dirty="0"/>
          </a:p>
        </p:txBody>
      </p:sp>
      <p:sp>
        <p:nvSpPr>
          <p:cNvPr id="42" name="Shape 40"/>
          <p:cNvSpPr/>
          <p:nvPr/>
        </p:nvSpPr>
        <p:spPr>
          <a:xfrm>
            <a:off x="8335061" y="4434840"/>
            <a:ext cx="3106826" cy="731520"/>
          </a:xfrm>
          <a:prstGeom prst="rect">
            <a:avLst/>
          </a:prstGeom>
          <a:solidFill>
            <a:srgbClr val="F5EDE0"/>
          </a:solidFill>
          <a:ln w="12700">
            <a:solidFill>
              <a:srgbClr val="E3D6C2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8335061" y="4434840"/>
            <a:ext cx="73152" cy="731520"/>
          </a:xfrm>
          <a:prstGeom prst="rect">
            <a:avLst/>
          </a:prstGeom>
          <a:solidFill>
            <a:srgbClr val="7A5C8E"/>
          </a:solidFill>
          <a:ln/>
        </p:spPr>
      </p:sp>
      <p:sp>
        <p:nvSpPr>
          <p:cNvPr id="44" name="Text 42"/>
          <p:cNvSpPr/>
          <p:nvPr/>
        </p:nvSpPr>
        <p:spPr>
          <a:xfrm>
            <a:off x="8517941" y="4434840"/>
            <a:ext cx="283250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41B14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Mobile companion</a:t>
            </a:r>
            <a:endParaRPr lang="en-US" sz="1300" dirty="0"/>
          </a:p>
        </p:txBody>
      </p:sp>
      <p:sp>
        <p:nvSpPr>
          <p:cNvPr id="45" name="Text 43"/>
          <p:cNvSpPr/>
          <p:nvPr/>
        </p:nvSpPr>
        <p:spPr>
          <a:xfrm>
            <a:off x="566928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C8B7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Arun Teja Kamisetti</a:t>
            </a:r>
            <a:endParaRPr lang="en-US" sz="850" dirty="0"/>
          </a:p>
        </p:txBody>
      </p:sp>
      <p:sp>
        <p:nvSpPr>
          <p:cNvPr id="46" name="Text 44"/>
          <p:cNvSpPr/>
          <p:nvPr/>
        </p:nvSpPr>
        <p:spPr>
          <a:xfrm>
            <a:off x="10710367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8B77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D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75488"/>
            <a:ext cx="146304" cy="146304"/>
          </a:xfrm>
          <a:prstGeom prst="ellipse">
            <a:avLst/>
          </a:prstGeom>
          <a:solidFill>
            <a:srgbClr val="FF6A2B"/>
          </a:solidFill>
          <a:ln/>
        </p:spPr>
      </p:sp>
      <p:sp>
        <p:nvSpPr>
          <p:cNvPr id="3" name="Text 1"/>
          <p:cNvSpPr/>
          <p:nvPr/>
        </p:nvSpPr>
        <p:spPr>
          <a:xfrm>
            <a:off x="804672" y="402336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6A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PLAN · GANTT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66928" y="713232"/>
            <a:ext cx="11057839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41B14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Delivery timeline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66928" y="1426464"/>
            <a:ext cx="11057839" cy="0"/>
          </a:xfrm>
          <a:prstGeom prst="line">
            <a:avLst/>
          </a:prstGeom>
          <a:noFill/>
          <a:ln w="12700">
            <a:solidFill>
              <a:srgbClr val="E3D6C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75888" y="2103120"/>
            <a:ext cx="0" cy="3493008"/>
          </a:xfrm>
          <a:prstGeom prst="line">
            <a:avLst/>
          </a:prstGeom>
          <a:noFill/>
          <a:ln w="6350">
            <a:solidFill>
              <a:srgbClr val="E3D6C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75888" y="1783080"/>
            <a:ext cx="88320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C8B77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W1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4559097" y="2103120"/>
            <a:ext cx="0" cy="3493008"/>
          </a:xfrm>
          <a:prstGeom prst="line">
            <a:avLst/>
          </a:prstGeom>
          <a:noFill/>
          <a:ln w="6350">
            <a:solidFill>
              <a:srgbClr val="E3D6C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59097" y="1783080"/>
            <a:ext cx="88320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C8B77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W2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5442306" y="2103120"/>
            <a:ext cx="0" cy="3493008"/>
          </a:xfrm>
          <a:prstGeom prst="line">
            <a:avLst/>
          </a:prstGeom>
          <a:noFill/>
          <a:ln w="6350">
            <a:solidFill>
              <a:srgbClr val="E3D6C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42306" y="1783080"/>
            <a:ext cx="88320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C8B77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W3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325514" y="2103120"/>
            <a:ext cx="0" cy="3493008"/>
          </a:xfrm>
          <a:prstGeom prst="line">
            <a:avLst/>
          </a:prstGeom>
          <a:noFill/>
          <a:ln w="6350">
            <a:solidFill>
              <a:srgbClr val="E3D6C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25514" y="1783080"/>
            <a:ext cx="88320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C8B77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W4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7208723" y="2103120"/>
            <a:ext cx="0" cy="3493008"/>
          </a:xfrm>
          <a:prstGeom prst="line">
            <a:avLst/>
          </a:prstGeom>
          <a:noFill/>
          <a:ln w="6350">
            <a:solidFill>
              <a:srgbClr val="E3D6C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208723" y="1783080"/>
            <a:ext cx="88320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C8B77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W5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8091932" y="2103120"/>
            <a:ext cx="0" cy="3493008"/>
          </a:xfrm>
          <a:prstGeom prst="line">
            <a:avLst/>
          </a:prstGeom>
          <a:noFill/>
          <a:ln w="6350">
            <a:solidFill>
              <a:srgbClr val="E3D6C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091932" y="1783080"/>
            <a:ext cx="88320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C8B77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W6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8975141" y="2103120"/>
            <a:ext cx="0" cy="3493008"/>
          </a:xfrm>
          <a:prstGeom prst="line">
            <a:avLst/>
          </a:prstGeom>
          <a:noFill/>
          <a:ln w="6350">
            <a:solidFill>
              <a:srgbClr val="E3D6C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975141" y="1783080"/>
            <a:ext cx="88320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C8B77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W7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9858350" y="2103120"/>
            <a:ext cx="0" cy="3493008"/>
          </a:xfrm>
          <a:prstGeom prst="line">
            <a:avLst/>
          </a:prstGeom>
          <a:noFill/>
          <a:ln w="6350">
            <a:solidFill>
              <a:srgbClr val="E3D6C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858350" y="1783080"/>
            <a:ext cx="88320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C8B77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W8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10741558" y="2103120"/>
            <a:ext cx="0" cy="3493008"/>
          </a:xfrm>
          <a:prstGeom prst="line">
            <a:avLst/>
          </a:prstGeom>
          <a:noFill/>
          <a:ln w="6350">
            <a:solidFill>
              <a:srgbClr val="E3D6C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0741558" y="1783080"/>
            <a:ext cx="88320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C8B77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W9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11624767" y="2103120"/>
            <a:ext cx="0" cy="3493008"/>
          </a:xfrm>
          <a:prstGeom prst="line">
            <a:avLst/>
          </a:prstGeom>
          <a:noFill/>
          <a:ln w="6350">
            <a:solidFill>
              <a:srgbClr val="E3D6C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66928" y="2121408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41B1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Discovery &amp; research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3675888" y="2203704"/>
            <a:ext cx="1766418" cy="329184"/>
          </a:xfrm>
          <a:prstGeom prst="roundRect">
            <a:avLst>
              <a:gd name="adj" fmla="val 16667"/>
            </a:avLst>
          </a:prstGeom>
          <a:solidFill>
            <a:srgbClr val="5FAE7E"/>
          </a:solidFill>
          <a:ln/>
        </p:spPr>
      </p:sp>
      <p:sp>
        <p:nvSpPr>
          <p:cNvPr id="27" name="Text 25"/>
          <p:cNvSpPr/>
          <p:nvPr/>
        </p:nvSpPr>
        <p:spPr>
          <a:xfrm>
            <a:off x="566928" y="2688336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41B1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Eval framework build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5000701" y="2770632"/>
            <a:ext cx="2649626" cy="329184"/>
          </a:xfrm>
          <a:prstGeom prst="roundRect">
            <a:avLst>
              <a:gd name="adj" fmla="val 16667"/>
            </a:avLst>
          </a:prstGeom>
          <a:solidFill>
            <a:srgbClr val="FF6A2B"/>
          </a:solidFill>
          <a:ln/>
        </p:spPr>
      </p:sp>
      <p:sp>
        <p:nvSpPr>
          <p:cNvPr id="29" name="Text 27"/>
          <p:cNvSpPr/>
          <p:nvPr/>
        </p:nvSpPr>
        <p:spPr>
          <a:xfrm>
            <a:off x="566928" y="3255264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41B1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Guardrails layer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6325514" y="3337560"/>
            <a:ext cx="2208022" cy="329184"/>
          </a:xfrm>
          <a:prstGeom prst="roundRect">
            <a:avLst>
              <a:gd name="adj" fmla="val 16667"/>
            </a:avLst>
          </a:prstGeom>
          <a:solidFill>
            <a:srgbClr val="FF6A2B"/>
          </a:solidFill>
          <a:ln/>
        </p:spPr>
      </p:sp>
      <p:sp>
        <p:nvSpPr>
          <p:cNvPr id="31" name="Text 29"/>
          <p:cNvSpPr/>
          <p:nvPr/>
        </p:nvSpPr>
        <p:spPr>
          <a:xfrm>
            <a:off x="566928" y="3822192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41B1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Beta with 3 design partners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7650328" y="3904488"/>
            <a:ext cx="2649626" cy="329184"/>
          </a:xfrm>
          <a:prstGeom prst="roundRect">
            <a:avLst>
              <a:gd name="adj" fmla="val 16667"/>
            </a:avLst>
          </a:prstGeom>
          <a:solidFill>
            <a:srgbClr val="E0A53C"/>
          </a:solidFill>
          <a:ln/>
        </p:spPr>
      </p:sp>
      <p:sp>
        <p:nvSpPr>
          <p:cNvPr id="33" name="Text 31"/>
          <p:cNvSpPr/>
          <p:nvPr/>
        </p:nvSpPr>
        <p:spPr>
          <a:xfrm>
            <a:off x="566928" y="438912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41B1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GTM &amp; launch prep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8975141" y="4471416"/>
            <a:ext cx="1766418" cy="329184"/>
          </a:xfrm>
          <a:prstGeom prst="roundRect">
            <a:avLst>
              <a:gd name="adj" fmla="val 16667"/>
            </a:avLst>
          </a:prstGeom>
          <a:solidFill>
            <a:srgbClr val="7A5C8E"/>
          </a:solidFill>
          <a:ln/>
        </p:spPr>
      </p:sp>
      <p:sp>
        <p:nvSpPr>
          <p:cNvPr id="35" name="Text 33"/>
          <p:cNvSpPr/>
          <p:nvPr/>
        </p:nvSpPr>
        <p:spPr>
          <a:xfrm>
            <a:off x="566928" y="4956048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41B1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v1 launch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>
            <a:off x="10631830" y="5038344"/>
            <a:ext cx="310896" cy="310896"/>
          </a:xfrm>
          <a:prstGeom prst="ellipse">
            <a:avLst/>
          </a:prstGeom>
          <a:solidFill>
            <a:srgbClr val="241B14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675888" y="5687568"/>
            <a:ext cx="794887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C8B7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Bars = workstreams · diamond = milestone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566928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C8B7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Arun Teja Kamisetti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10710367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8B77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D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75488"/>
            <a:ext cx="146304" cy="146304"/>
          </a:xfrm>
          <a:prstGeom prst="ellipse">
            <a:avLst/>
          </a:prstGeom>
          <a:solidFill>
            <a:srgbClr val="FF6A2B"/>
          </a:solidFill>
          <a:ln/>
        </p:spPr>
      </p:sp>
      <p:sp>
        <p:nvSpPr>
          <p:cNvPr id="3" name="Text 1"/>
          <p:cNvSpPr/>
          <p:nvPr/>
        </p:nvSpPr>
        <p:spPr>
          <a:xfrm>
            <a:off x="804672" y="402336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6A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RECOMMENDATION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66928" y="713232"/>
            <a:ext cx="11057839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41B14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Our recommendation &amp; the ask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66928" y="1426464"/>
            <a:ext cx="11057839" cy="0"/>
          </a:xfrm>
          <a:prstGeom prst="line">
            <a:avLst/>
          </a:prstGeom>
          <a:noFill/>
          <a:ln w="12700">
            <a:solidFill>
              <a:srgbClr val="E3D6C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1783080"/>
            <a:ext cx="11057839" cy="1188720"/>
          </a:xfrm>
          <a:prstGeom prst="rect">
            <a:avLst/>
          </a:prstGeom>
          <a:solidFill>
            <a:srgbClr val="F5EDE0"/>
          </a:solidFill>
          <a:ln w="12700">
            <a:solidFill>
              <a:srgbClr val="E3D6C2"/>
            </a:solidFill>
            <a:prstDash val="solid"/>
          </a:ln>
          <a:effectLst>
            <a:outerShdw sx="100000" sy="100000" kx="0" ky="0" algn="bl" rotWithShape="0" blurRad="88900" dist="38100" dir="8100000">
              <a:srgbClr val="241B14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66928" y="1783080"/>
            <a:ext cx="73152" cy="1188720"/>
          </a:xfrm>
          <a:prstGeom prst="rect">
            <a:avLst/>
          </a:prstGeom>
          <a:solidFill>
            <a:srgbClr val="FF6A2B"/>
          </a:solidFill>
          <a:ln/>
        </p:spPr>
      </p:sp>
      <p:sp>
        <p:nvSpPr>
          <p:cNvPr id="8" name="Text 6"/>
          <p:cNvSpPr/>
          <p:nvPr/>
        </p:nvSpPr>
        <p:spPr>
          <a:xfrm>
            <a:off x="886968" y="1920240"/>
            <a:ext cx="10417759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241B14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Reposition around an AI-assisted evaluation core, ship a focused v1 in two quarters, and defend the mid-market with guardrails as the wedge.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566928" y="3200400"/>
            <a:ext cx="3503066" cy="2468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3D6C2"/>
            </a:solidFill>
            <a:prstDash val="solid"/>
          </a:ln>
          <a:effectLst>
            <a:outerShdw sx="100000" sy="100000" kx="0" ky="0" algn="bl" rotWithShape="0" blurRad="88900" dist="38100" dir="8100000">
              <a:srgbClr val="241B14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566928" y="3200400"/>
            <a:ext cx="73152" cy="2468880"/>
          </a:xfrm>
          <a:prstGeom prst="rect">
            <a:avLst/>
          </a:prstGeom>
          <a:solidFill>
            <a:srgbClr val="5FAE7E"/>
          </a:solidFill>
          <a:ln/>
        </p:spPr>
      </p:sp>
      <p:sp>
        <p:nvSpPr>
          <p:cNvPr id="11" name="Text 9"/>
          <p:cNvSpPr/>
          <p:nvPr/>
        </p:nvSpPr>
        <p:spPr>
          <a:xfrm>
            <a:off x="822960" y="3364992"/>
            <a:ext cx="304586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FAE7E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Why now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822960" y="3840480"/>
            <a:ext cx="3000146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5C4A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Market shifting to AI-native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5C4A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Churn rising in core segment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5C4A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$4.2M ARR at risk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4344314" y="3200400"/>
            <a:ext cx="3503066" cy="2468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3D6C2"/>
            </a:solidFill>
            <a:prstDash val="solid"/>
          </a:ln>
          <a:effectLst>
            <a:outerShdw sx="100000" sy="100000" kx="0" ky="0" algn="bl" rotWithShape="0" blurRad="88900" dist="38100" dir="8100000">
              <a:srgbClr val="241B14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344314" y="3200400"/>
            <a:ext cx="73152" cy="2468880"/>
          </a:xfrm>
          <a:prstGeom prst="rect">
            <a:avLst/>
          </a:prstGeom>
          <a:solidFill>
            <a:srgbClr val="E0A53C"/>
          </a:solidFill>
          <a:ln/>
        </p:spPr>
      </p:sp>
      <p:sp>
        <p:nvSpPr>
          <p:cNvPr id="15" name="Text 13"/>
          <p:cNvSpPr/>
          <p:nvPr/>
        </p:nvSpPr>
        <p:spPr>
          <a:xfrm>
            <a:off x="4600346" y="3364992"/>
            <a:ext cx="304586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0A53C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The ask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4600346" y="3840480"/>
            <a:ext cx="3000146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5C4A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 quarters of focused build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5C4A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 design-partner commitments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5C4A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Reallocate 4 FTE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8121701" y="3200400"/>
            <a:ext cx="3503066" cy="2468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3D6C2"/>
            </a:solidFill>
            <a:prstDash val="solid"/>
          </a:ln>
          <a:effectLst>
            <a:outerShdw sx="100000" sy="100000" kx="0" ky="0" algn="bl" rotWithShape="0" blurRad="88900" dist="38100" dir="8100000">
              <a:srgbClr val="241B14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8121701" y="3200400"/>
            <a:ext cx="73152" cy="2468880"/>
          </a:xfrm>
          <a:prstGeom prst="rect">
            <a:avLst/>
          </a:prstGeom>
          <a:solidFill>
            <a:srgbClr val="7A5C8E"/>
          </a:solidFill>
          <a:ln/>
        </p:spPr>
      </p:sp>
      <p:sp>
        <p:nvSpPr>
          <p:cNvPr id="19" name="Text 17"/>
          <p:cNvSpPr/>
          <p:nvPr/>
        </p:nvSpPr>
        <p:spPr>
          <a:xfrm>
            <a:off x="8377733" y="3364992"/>
            <a:ext cx="304586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7A5C8E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Expected impact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8377733" y="3840480"/>
            <a:ext cx="3000146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5C4A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+38% retention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5C4A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Eval time weeks → days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5C4A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Defensible wedge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566928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C8B7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Arun Teja Kamisetti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10710367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8B77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241B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457200"/>
            <a:ext cx="45720" cy="45720"/>
          </a:xfrm>
          <a:prstGeom prst="ellipse">
            <a:avLst/>
          </a:prstGeom>
          <a:solidFill>
            <a:srgbClr val="5C4A3A"/>
          </a:solidFill>
          <a:ln/>
        </p:spPr>
      </p:sp>
      <p:sp>
        <p:nvSpPr>
          <p:cNvPr id="3" name="Shape 1"/>
          <p:cNvSpPr/>
          <p:nvPr/>
        </p:nvSpPr>
        <p:spPr>
          <a:xfrm>
            <a:off x="9893808" y="457200"/>
            <a:ext cx="45720" cy="45720"/>
          </a:xfrm>
          <a:prstGeom prst="ellipse">
            <a:avLst/>
          </a:prstGeom>
          <a:solidFill>
            <a:srgbClr val="5C4A3A"/>
          </a:solidFill>
          <a:ln/>
        </p:spPr>
      </p:sp>
      <p:sp>
        <p:nvSpPr>
          <p:cNvPr id="4" name="Shape 2"/>
          <p:cNvSpPr/>
          <p:nvPr/>
        </p:nvSpPr>
        <p:spPr>
          <a:xfrm>
            <a:off x="10094976" y="457200"/>
            <a:ext cx="45720" cy="45720"/>
          </a:xfrm>
          <a:prstGeom prst="ellipse">
            <a:avLst/>
          </a:prstGeom>
          <a:solidFill>
            <a:srgbClr val="5C4A3A"/>
          </a:solidFill>
          <a:ln/>
        </p:spPr>
      </p:sp>
      <p:sp>
        <p:nvSpPr>
          <p:cNvPr id="5" name="Shape 3"/>
          <p:cNvSpPr/>
          <p:nvPr/>
        </p:nvSpPr>
        <p:spPr>
          <a:xfrm>
            <a:off x="10296144" y="457200"/>
            <a:ext cx="45720" cy="45720"/>
          </a:xfrm>
          <a:prstGeom prst="ellipse">
            <a:avLst/>
          </a:prstGeom>
          <a:solidFill>
            <a:srgbClr val="5C4A3A"/>
          </a:solidFill>
          <a:ln/>
        </p:spPr>
      </p:sp>
      <p:sp>
        <p:nvSpPr>
          <p:cNvPr id="6" name="Shape 4"/>
          <p:cNvSpPr/>
          <p:nvPr/>
        </p:nvSpPr>
        <p:spPr>
          <a:xfrm>
            <a:off x="10497312" y="457200"/>
            <a:ext cx="45720" cy="45720"/>
          </a:xfrm>
          <a:prstGeom prst="ellipse">
            <a:avLst/>
          </a:prstGeom>
          <a:solidFill>
            <a:srgbClr val="5C4A3A"/>
          </a:solidFill>
          <a:ln/>
        </p:spPr>
      </p:sp>
      <p:sp>
        <p:nvSpPr>
          <p:cNvPr id="7" name="Shape 5"/>
          <p:cNvSpPr/>
          <p:nvPr/>
        </p:nvSpPr>
        <p:spPr>
          <a:xfrm>
            <a:off x="10698480" y="457200"/>
            <a:ext cx="45720" cy="45720"/>
          </a:xfrm>
          <a:prstGeom prst="ellipse">
            <a:avLst/>
          </a:prstGeom>
          <a:solidFill>
            <a:srgbClr val="5C4A3A"/>
          </a:solidFill>
          <a:ln/>
        </p:spPr>
      </p:sp>
      <p:sp>
        <p:nvSpPr>
          <p:cNvPr id="8" name="Shape 6"/>
          <p:cNvSpPr/>
          <p:nvPr/>
        </p:nvSpPr>
        <p:spPr>
          <a:xfrm>
            <a:off x="10899648" y="457200"/>
            <a:ext cx="45720" cy="45720"/>
          </a:xfrm>
          <a:prstGeom prst="ellipse">
            <a:avLst/>
          </a:prstGeom>
          <a:solidFill>
            <a:srgbClr val="5C4A3A"/>
          </a:solidFill>
          <a:ln/>
        </p:spPr>
      </p:sp>
      <p:sp>
        <p:nvSpPr>
          <p:cNvPr id="9" name="Shape 7"/>
          <p:cNvSpPr/>
          <p:nvPr/>
        </p:nvSpPr>
        <p:spPr>
          <a:xfrm>
            <a:off x="11100816" y="457200"/>
            <a:ext cx="45720" cy="45720"/>
          </a:xfrm>
          <a:prstGeom prst="ellipse">
            <a:avLst/>
          </a:prstGeom>
          <a:solidFill>
            <a:srgbClr val="5C4A3A"/>
          </a:solidFill>
          <a:ln/>
        </p:spPr>
      </p:sp>
      <p:sp>
        <p:nvSpPr>
          <p:cNvPr id="10" name="Shape 8"/>
          <p:cNvSpPr/>
          <p:nvPr/>
        </p:nvSpPr>
        <p:spPr>
          <a:xfrm>
            <a:off x="11301984" y="457200"/>
            <a:ext cx="45720" cy="45720"/>
          </a:xfrm>
          <a:prstGeom prst="ellipse">
            <a:avLst/>
          </a:prstGeom>
          <a:solidFill>
            <a:srgbClr val="5C4A3A"/>
          </a:solidFill>
          <a:ln/>
        </p:spPr>
      </p:sp>
      <p:sp>
        <p:nvSpPr>
          <p:cNvPr id="11" name="Shape 9"/>
          <p:cNvSpPr/>
          <p:nvPr/>
        </p:nvSpPr>
        <p:spPr>
          <a:xfrm>
            <a:off x="11503152" y="457200"/>
            <a:ext cx="45720" cy="45720"/>
          </a:xfrm>
          <a:prstGeom prst="ellipse">
            <a:avLst/>
          </a:prstGeom>
          <a:solidFill>
            <a:srgbClr val="5C4A3A"/>
          </a:solidFill>
          <a:ln/>
        </p:spPr>
      </p:sp>
      <p:sp>
        <p:nvSpPr>
          <p:cNvPr id="12" name="Shape 10"/>
          <p:cNvSpPr/>
          <p:nvPr/>
        </p:nvSpPr>
        <p:spPr>
          <a:xfrm>
            <a:off x="9692640" y="658368"/>
            <a:ext cx="45720" cy="45720"/>
          </a:xfrm>
          <a:prstGeom prst="ellipse">
            <a:avLst/>
          </a:prstGeom>
          <a:solidFill>
            <a:srgbClr val="5C4A3A"/>
          </a:solidFill>
          <a:ln/>
        </p:spPr>
      </p:sp>
      <p:sp>
        <p:nvSpPr>
          <p:cNvPr id="13" name="Shape 11"/>
          <p:cNvSpPr/>
          <p:nvPr/>
        </p:nvSpPr>
        <p:spPr>
          <a:xfrm>
            <a:off x="9893808" y="658368"/>
            <a:ext cx="45720" cy="45720"/>
          </a:xfrm>
          <a:prstGeom prst="ellipse">
            <a:avLst/>
          </a:prstGeom>
          <a:solidFill>
            <a:srgbClr val="5C4A3A"/>
          </a:solidFill>
          <a:ln/>
        </p:spPr>
      </p:sp>
      <p:sp>
        <p:nvSpPr>
          <p:cNvPr id="14" name="Shape 12"/>
          <p:cNvSpPr/>
          <p:nvPr/>
        </p:nvSpPr>
        <p:spPr>
          <a:xfrm>
            <a:off x="10094976" y="658368"/>
            <a:ext cx="45720" cy="45720"/>
          </a:xfrm>
          <a:prstGeom prst="ellipse">
            <a:avLst/>
          </a:prstGeom>
          <a:solidFill>
            <a:srgbClr val="5C4A3A"/>
          </a:solidFill>
          <a:ln/>
        </p:spPr>
      </p:sp>
      <p:sp>
        <p:nvSpPr>
          <p:cNvPr id="15" name="Shape 13"/>
          <p:cNvSpPr/>
          <p:nvPr/>
        </p:nvSpPr>
        <p:spPr>
          <a:xfrm>
            <a:off x="10296144" y="658368"/>
            <a:ext cx="45720" cy="45720"/>
          </a:xfrm>
          <a:prstGeom prst="ellipse">
            <a:avLst/>
          </a:prstGeom>
          <a:solidFill>
            <a:srgbClr val="5C4A3A"/>
          </a:solidFill>
          <a:ln/>
        </p:spPr>
      </p:sp>
      <p:sp>
        <p:nvSpPr>
          <p:cNvPr id="16" name="Shape 14"/>
          <p:cNvSpPr/>
          <p:nvPr/>
        </p:nvSpPr>
        <p:spPr>
          <a:xfrm>
            <a:off x="10497312" y="658368"/>
            <a:ext cx="45720" cy="45720"/>
          </a:xfrm>
          <a:prstGeom prst="ellipse">
            <a:avLst/>
          </a:prstGeom>
          <a:solidFill>
            <a:srgbClr val="5C4A3A"/>
          </a:solidFill>
          <a:ln/>
        </p:spPr>
      </p:sp>
      <p:sp>
        <p:nvSpPr>
          <p:cNvPr id="17" name="Shape 15"/>
          <p:cNvSpPr/>
          <p:nvPr/>
        </p:nvSpPr>
        <p:spPr>
          <a:xfrm>
            <a:off x="10698480" y="658368"/>
            <a:ext cx="45720" cy="45720"/>
          </a:xfrm>
          <a:prstGeom prst="ellipse">
            <a:avLst/>
          </a:prstGeom>
          <a:solidFill>
            <a:srgbClr val="5C4A3A"/>
          </a:solidFill>
          <a:ln/>
        </p:spPr>
      </p:sp>
      <p:sp>
        <p:nvSpPr>
          <p:cNvPr id="18" name="Shape 16"/>
          <p:cNvSpPr/>
          <p:nvPr/>
        </p:nvSpPr>
        <p:spPr>
          <a:xfrm>
            <a:off x="10899648" y="658368"/>
            <a:ext cx="45720" cy="45720"/>
          </a:xfrm>
          <a:prstGeom prst="ellipse">
            <a:avLst/>
          </a:prstGeom>
          <a:solidFill>
            <a:srgbClr val="5C4A3A"/>
          </a:solidFill>
          <a:ln/>
        </p:spPr>
      </p:sp>
      <p:sp>
        <p:nvSpPr>
          <p:cNvPr id="19" name="Shape 17"/>
          <p:cNvSpPr/>
          <p:nvPr/>
        </p:nvSpPr>
        <p:spPr>
          <a:xfrm>
            <a:off x="11100816" y="658368"/>
            <a:ext cx="45720" cy="45720"/>
          </a:xfrm>
          <a:prstGeom prst="ellipse">
            <a:avLst/>
          </a:prstGeom>
          <a:solidFill>
            <a:srgbClr val="5C4A3A"/>
          </a:solidFill>
          <a:ln/>
        </p:spPr>
      </p:sp>
      <p:sp>
        <p:nvSpPr>
          <p:cNvPr id="20" name="Shape 18"/>
          <p:cNvSpPr/>
          <p:nvPr/>
        </p:nvSpPr>
        <p:spPr>
          <a:xfrm>
            <a:off x="11301984" y="658368"/>
            <a:ext cx="45720" cy="45720"/>
          </a:xfrm>
          <a:prstGeom prst="ellipse">
            <a:avLst/>
          </a:prstGeom>
          <a:solidFill>
            <a:srgbClr val="5C4A3A"/>
          </a:solidFill>
          <a:ln/>
        </p:spPr>
      </p:sp>
      <p:sp>
        <p:nvSpPr>
          <p:cNvPr id="21" name="Shape 19"/>
          <p:cNvSpPr/>
          <p:nvPr/>
        </p:nvSpPr>
        <p:spPr>
          <a:xfrm>
            <a:off x="11503152" y="658368"/>
            <a:ext cx="45720" cy="45720"/>
          </a:xfrm>
          <a:prstGeom prst="ellipse">
            <a:avLst/>
          </a:prstGeom>
          <a:solidFill>
            <a:srgbClr val="5C4A3A"/>
          </a:solidFill>
          <a:ln/>
        </p:spPr>
      </p:sp>
      <p:sp>
        <p:nvSpPr>
          <p:cNvPr id="22" name="Shape 20"/>
          <p:cNvSpPr/>
          <p:nvPr/>
        </p:nvSpPr>
        <p:spPr>
          <a:xfrm>
            <a:off x="9692640" y="859536"/>
            <a:ext cx="45720" cy="45720"/>
          </a:xfrm>
          <a:prstGeom prst="ellipse">
            <a:avLst/>
          </a:prstGeom>
          <a:solidFill>
            <a:srgbClr val="5C4A3A"/>
          </a:solidFill>
          <a:ln/>
        </p:spPr>
      </p:sp>
      <p:sp>
        <p:nvSpPr>
          <p:cNvPr id="23" name="Shape 21"/>
          <p:cNvSpPr/>
          <p:nvPr/>
        </p:nvSpPr>
        <p:spPr>
          <a:xfrm>
            <a:off x="9893808" y="859536"/>
            <a:ext cx="45720" cy="45720"/>
          </a:xfrm>
          <a:prstGeom prst="ellipse">
            <a:avLst/>
          </a:prstGeom>
          <a:solidFill>
            <a:srgbClr val="5C4A3A"/>
          </a:solidFill>
          <a:ln/>
        </p:spPr>
      </p:sp>
      <p:sp>
        <p:nvSpPr>
          <p:cNvPr id="24" name="Shape 22"/>
          <p:cNvSpPr/>
          <p:nvPr/>
        </p:nvSpPr>
        <p:spPr>
          <a:xfrm>
            <a:off x="10094976" y="859536"/>
            <a:ext cx="45720" cy="45720"/>
          </a:xfrm>
          <a:prstGeom prst="ellipse">
            <a:avLst/>
          </a:prstGeom>
          <a:solidFill>
            <a:srgbClr val="5C4A3A"/>
          </a:solidFill>
          <a:ln/>
        </p:spPr>
      </p:sp>
      <p:sp>
        <p:nvSpPr>
          <p:cNvPr id="25" name="Shape 23"/>
          <p:cNvSpPr/>
          <p:nvPr/>
        </p:nvSpPr>
        <p:spPr>
          <a:xfrm>
            <a:off x="10296144" y="859536"/>
            <a:ext cx="45720" cy="45720"/>
          </a:xfrm>
          <a:prstGeom prst="ellipse">
            <a:avLst/>
          </a:prstGeom>
          <a:solidFill>
            <a:srgbClr val="5C4A3A"/>
          </a:solidFill>
          <a:ln/>
        </p:spPr>
      </p:sp>
      <p:sp>
        <p:nvSpPr>
          <p:cNvPr id="26" name="Shape 24"/>
          <p:cNvSpPr/>
          <p:nvPr/>
        </p:nvSpPr>
        <p:spPr>
          <a:xfrm>
            <a:off x="10497312" y="859536"/>
            <a:ext cx="45720" cy="45720"/>
          </a:xfrm>
          <a:prstGeom prst="ellipse">
            <a:avLst/>
          </a:prstGeom>
          <a:solidFill>
            <a:srgbClr val="5C4A3A"/>
          </a:solidFill>
          <a:ln/>
        </p:spPr>
      </p:sp>
      <p:sp>
        <p:nvSpPr>
          <p:cNvPr id="27" name="Shape 25"/>
          <p:cNvSpPr/>
          <p:nvPr/>
        </p:nvSpPr>
        <p:spPr>
          <a:xfrm>
            <a:off x="10698480" y="859536"/>
            <a:ext cx="45720" cy="45720"/>
          </a:xfrm>
          <a:prstGeom prst="ellipse">
            <a:avLst/>
          </a:prstGeom>
          <a:solidFill>
            <a:srgbClr val="5C4A3A"/>
          </a:solidFill>
          <a:ln/>
        </p:spPr>
      </p:sp>
      <p:sp>
        <p:nvSpPr>
          <p:cNvPr id="28" name="Shape 26"/>
          <p:cNvSpPr/>
          <p:nvPr/>
        </p:nvSpPr>
        <p:spPr>
          <a:xfrm>
            <a:off x="10899648" y="859536"/>
            <a:ext cx="45720" cy="45720"/>
          </a:xfrm>
          <a:prstGeom prst="ellipse">
            <a:avLst/>
          </a:prstGeom>
          <a:solidFill>
            <a:srgbClr val="5C4A3A"/>
          </a:solidFill>
          <a:ln/>
        </p:spPr>
      </p:sp>
      <p:sp>
        <p:nvSpPr>
          <p:cNvPr id="29" name="Shape 27"/>
          <p:cNvSpPr/>
          <p:nvPr/>
        </p:nvSpPr>
        <p:spPr>
          <a:xfrm>
            <a:off x="11100816" y="859536"/>
            <a:ext cx="45720" cy="45720"/>
          </a:xfrm>
          <a:prstGeom prst="ellipse">
            <a:avLst/>
          </a:prstGeom>
          <a:solidFill>
            <a:srgbClr val="5C4A3A"/>
          </a:solidFill>
          <a:ln/>
        </p:spPr>
      </p:sp>
      <p:sp>
        <p:nvSpPr>
          <p:cNvPr id="30" name="Shape 28"/>
          <p:cNvSpPr/>
          <p:nvPr/>
        </p:nvSpPr>
        <p:spPr>
          <a:xfrm>
            <a:off x="11301984" y="859536"/>
            <a:ext cx="45720" cy="45720"/>
          </a:xfrm>
          <a:prstGeom prst="ellipse">
            <a:avLst/>
          </a:prstGeom>
          <a:solidFill>
            <a:srgbClr val="5C4A3A"/>
          </a:solidFill>
          <a:ln/>
        </p:spPr>
      </p:sp>
      <p:sp>
        <p:nvSpPr>
          <p:cNvPr id="31" name="Shape 29"/>
          <p:cNvSpPr/>
          <p:nvPr/>
        </p:nvSpPr>
        <p:spPr>
          <a:xfrm>
            <a:off x="11503152" y="859536"/>
            <a:ext cx="45720" cy="45720"/>
          </a:xfrm>
          <a:prstGeom prst="ellipse">
            <a:avLst/>
          </a:prstGeom>
          <a:solidFill>
            <a:srgbClr val="5C4A3A"/>
          </a:solidFill>
          <a:ln/>
        </p:spPr>
      </p:sp>
      <p:sp>
        <p:nvSpPr>
          <p:cNvPr id="32" name="Shape 30"/>
          <p:cNvSpPr/>
          <p:nvPr/>
        </p:nvSpPr>
        <p:spPr>
          <a:xfrm>
            <a:off x="9692640" y="1060704"/>
            <a:ext cx="45720" cy="45720"/>
          </a:xfrm>
          <a:prstGeom prst="ellipse">
            <a:avLst/>
          </a:prstGeom>
          <a:solidFill>
            <a:srgbClr val="5C4A3A"/>
          </a:solidFill>
          <a:ln/>
        </p:spPr>
      </p:sp>
      <p:sp>
        <p:nvSpPr>
          <p:cNvPr id="33" name="Shape 31"/>
          <p:cNvSpPr/>
          <p:nvPr/>
        </p:nvSpPr>
        <p:spPr>
          <a:xfrm>
            <a:off x="9893808" y="1060704"/>
            <a:ext cx="45720" cy="45720"/>
          </a:xfrm>
          <a:prstGeom prst="ellipse">
            <a:avLst/>
          </a:prstGeom>
          <a:solidFill>
            <a:srgbClr val="5C4A3A"/>
          </a:solidFill>
          <a:ln/>
        </p:spPr>
      </p:sp>
      <p:sp>
        <p:nvSpPr>
          <p:cNvPr id="34" name="Shape 32"/>
          <p:cNvSpPr/>
          <p:nvPr/>
        </p:nvSpPr>
        <p:spPr>
          <a:xfrm>
            <a:off x="10094976" y="1060704"/>
            <a:ext cx="45720" cy="45720"/>
          </a:xfrm>
          <a:prstGeom prst="ellipse">
            <a:avLst/>
          </a:prstGeom>
          <a:solidFill>
            <a:srgbClr val="5C4A3A"/>
          </a:solidFill>
          <a:ln/>
        </p:spPr>
      </p:sp>
      <p:sp>
        <p:nvSpPr>
          <p:cNvPr id="35" name="Shape 33"/>
          <p:cNvSpPr/>
          <p:nvPr/>
        </p:nvSpPr>
        <p:spPr>
          <a:xfrm>
            <a:off x="10296144" y="1060704"/>
            <a:ext cx="45720" cy="45720"/>
          </a:xfrm>
          <a:prstGeom prst="ellipse">
            <a:avLst/>
          </a:prstGeom>
          <a:solidFill>
            <a:srgbClr val="5C4A3A"/>
          </a:solidFill>
          <a:ln/>
        </p:spPr>
      </p:sp>
      <p:sp>
        <p:nvSpPr>
          <p:cNvPr id="36" name="Shape 34"/>
          <p:cNvSpPr/>
          <p:nvPr/>
        </p:nvSpPr>
        <p:spPr>
          <a:xfrm>
            <a:off x="10497312" y="1060704"/>
            <a:ext cx="45720" cy="45720"/>
          </a:xfrm>
          <a:prstGeom prst="ellipse">
            <a:avLst/>
          </a:prstGeom>
          <a:solidFill>
            <a:srgbClr val="5C4A3A"/>
          </a:solidFill>
          <a:ln/>
        </p:spPr>
      </p:sp>
      <p:sp>
        <p:nvSpPr>
          <p:cNvPr id="37" name="Shape 35"/>
          <p:cNvSpPr/>
          <p:nvPr/>
        </p:nvSpPr>
        <p:spPr>
          <a:xfrm>
            <a:off x="10698480" y="1060704"/>
            <a:ext cx="45720" cy="45720"/>
          </a:xfrm>
          <a:prstGeom prst="ellipse">
            <a:avLst/>
          </a:prstGeom>
          <a:solidFill>
            <a:srgbClr val="5C4A3A"/>
          </a:solidFill>
          <a:ln/>
        </p:spPr>
      </p:sp>
      <p:sp>
        <p:nvSpPr>
          <p:cNvPr id="38" name="Shape 36"/>
          <p:cNvSpPr/>
          <p:nvPr/>
        </p:nvSpPr>
        <p:spPr>
          <a:xfrm>
            <a:off x="10899648" y="1060704"/>
            <a:ext cx="45720" cy="45720"/>
          </a:xfrm>
          <a:prstGeom prst="ellipse">
            <a:avLst/>
          </a:prstGeom>
          <a:solidFill>
            <a:srgbClr val="5C4A3A"/>
          </a:solidFill>
          <a:ln/>
        </p:spPr>
      </p:sp>
      <p:sp>
        <p:nvSpPr>
          <p:cNvPr id="39" name="Shape 37"/>
          <p:cNvSpPr/>
          <p:nvPr/>
        </p:nvSpPr>
        <p:spPr>
          <a:xfrm>
            <a:off x="11100816" y="1060704"/>
            <a:ext cx="45720" cy="45720"/>
          </a:xfrm>
          <a:prstGeom prst="ellipse">
            <a:avLst/>
          </a:prstGeom>
          <a:solidFill>
            <a:srgbClr val="5C4A3A"/>
          </a:solidFill>
          <a:ln/>
        </p:spPr>
      </p:sp>
      <p:sp>
        <p:nvSpPr>
          <p:cNvPr id="40" name="Shape 38"/>
          <p:cNvSpPr/>
          <p:nvPr/>
        </p:nvSpPr>
        <p:spPr>
          <a:xfrm>
            <a:off x="11301984" y="1060704"/>
            <a:ext cx="45720" cy="45720"/>
          </a:xfrm>
          <a:prstGeom prst="ellipse">
            <a:avLst/>
          </a:prstGeom>
          <a:solidFill>
            <a:srgbClr val="5C4A3A"/>
          </a:solidFill>
          <a:ln/>
        </p:spPr>
      </p:sp>
      <p:sp>
        <p:nvSpPr>
          <p:cNvPr id="41" name="Shape 39"/>
          <p:cNvSpPr/>
          <p:nvPr/>
        </p:nvSpPr>
        <p:spPr>
          <a:xfrm>
            <a:off x="11503152" y="1060704"/>
            <a:ext cx="45720" cy="45720"/>
          </a:xfrm>
          <a:prstGeom prst="ellipse">
            <a:avLst/>
          </a:prstGeom>
          <a:solidFill>
            <a:srgbClr val="5C4A3A"/>
          </a:solidFill>
          <a:ln/>
        </p:spPr>
      </p:sp>
      <p:sp>
        <p:nvSpPr>
          <p:cNvPr id="42" name="Text 40"/>
          <p:cNvSpPr/>
          <p:nvPr/>
        </p:nvSpPr>
        <p:spPr>
          <a:xfrm>
            <a:off x="566928" y="2286000"/>
            <a:ext cx="10058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THANK YOU</a:t>
            </a:r>
            <a:endParaRPr lang="en-US" sz="5600" dirty="0"/>
          </a:p>
        </p:txBody>
      </p:sp>
      <p:sp>
        <p:nvSpPr>
          <p:cNvPr id="43" name="Shape 41"/>
          <p:cNvSpPr/>
          <p:nvPr/>
        </p:nvSpPr>
        <p:spPr>
          <a:xfrm>
            <a:off x="566928" y="3520440"/>
            <a:ext cx="2743200" cy="0"/>
          </a:xfrm>
          <a:prstGeom prst="line">
            <a:avLst/>
          </a:prstGeom>
          <a:noFill/>
          <a:ln w="31750">
            <a:solidFill>
              <a:srgbClr val="FF6A2B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66928" y="37033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9B79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Questions &amp; discussion welcome.</a:t>
            </a:r>
            <a:endParaRPr lang="en-US" sz="1500" dirty="0"/>
          </a:p>
        </p:txBody>
      </p:sp>
      <p:sp>
        <p:nvSpPr>
          <p:cNvPr id="45" name="Text 43"/>
          <p:cNvSpPr/>
          <p:nvPr/>
        </p:nvSpPr>
        <p:spPr>
          <a:xfrm>
            <a:off x="566928" y="4846320"/>
            <a:ext cx="9144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Arun Teja Kamisetti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6A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arunteja2000@gmail.com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9C8B7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linkedin.com/in/arun-teja-kamisetti  ·  github.com/ArunTejaKamisetti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>Arun Teja Kamisetti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Arun Teja Kamisetti</dc:creator>
  <cp:lastModifiedBy>Arun Teja Kamisetti</cp:lastModifiedBy>
  <cp:revision>1</cp:revision>
  <dcterms:created xsi:type="dcterms:W3CDTF">2026-06-19T14:03:20Z</dcterms:created>
  <dcterms:modified xsi:type="dcterms:W3CDTF">2026-06-19T14:03:20Z</dcterms:modified>
</cp:coreProperties>
</file>