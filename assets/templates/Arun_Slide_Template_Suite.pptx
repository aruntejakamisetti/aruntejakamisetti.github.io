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4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7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FF6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Eval too slow</c:v>
                  </c:pt>
                  <c:pt idx="1">
                    <c:v>Benchmarks ≠ use case</c:v>
                  </c:pt>
                  <c:pt idx="2">
                    <c:v>Hard to defend pick</c:v>
                  </c:pt>
                  <c:pt idx="3">
                    <c:v>Safety unknown</c:v>
                  </c:pt>
                  <c:pt idx="4">
                    <c:v>Cost surprises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11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FF6A2B"/>
            </a:solidFill>
            <a:ln w="38100" cap="flat">
              <a:solidFill>
                <a:srgbClr val="FF6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B1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A2B"/>
              </a:solidFill>
              <a:ln w="9525" cap="flat">
                <a:solidFill>
                  <a:srgbClr val="FF6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2026E</c:v>
                  </c:pt>
                  <c:pt idx="5">
                    <c:v>2027E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</c:v>
                </c:pt>
                <c:pt idx="1">
                  <c:v>7.8</c:v>
                </c:pt>
                <c:pt idx="2">
                  <c:v>13.2</c:v>
                </c:pt>
                <c:pt idx="3">
                  <c:v>21</c:v>
                </c:pt>
                <c:pt idx="4">
                  <c:v>32.5</c:v>
                </c:pt>
                <c:pt idx="5">
                  <c:v>47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1B1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A2B"/>
              </a:solidFill>
              <a:effectLst/>
            </c:spPr>
          </c:dPt>
          <c:dPt>
            <c:idx val="1"/>
            <c:bubble3D val="0"/>
            <c:spPr>
              <a:solidFill>
                <a:srgbClr val="5FAE7E"/>
              </a:solidFill>
              <a:effectLst/>
            </c:spPr>
          </c:dPt>
          <c:dPt>
            <c:idx val="2"/>
            <c:bubble3D val="0"/>
            <c:spPr>
              <a:solidFill>
                <a:srgbClr val="E0A53C"/>
              </a:solidFill>
              <a:effectLst/>
            </c:spPr>
          </c:dPt>
          <c:dPt>
            <c:idx val="3"/>
            <c:bubble3D val="0"/>
            <c:spPr>
              <a:solidFill>
                <a:srgbClr val="7A5C8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Model APIs</c:v>
                </c:pt>
                <c:pt idx="1">
                  <c:v>Tooling/eval</c:v>
                </c:pt>
                <c:pt idx="2">
                  <c:v>Infra</c:v>
                </c:pt>
                <c:pt idx="3">
                  <c:v>Services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22</c:v>
                </c:pt>
                <c:pt idx="2">
                  <c:v>20</c:v>
                </c:pt>
                <c:pt idx="3">
                  <c:v>12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C4A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agree</c:v>
                </c:pt>
              </c:strCache>
            </c:strRef>
          </c:tx>
          <c:spPr>
            <a:solidFill>
              <a:srgbClr val="FF6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A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E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5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5C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A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Eval is a bottleneck</c:v>
                  </c:pt>
                  <c:pt idx="1">
                    <c:v>Would pay for speed</c:v>
                  </c:pt>
                  <c:pt idx="2">
                    <c:v>Safety matters more in '26</c:v>
                  </c:pt>
                  <c:pt idx="3">
                    <c:v>Trust matters &gt; price</c:v>
                  </c:pt>
                  <c:pt idx="4">
                    <c:v>Open to switching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64</c:v>
                </c:pt>
                <c:pt idx="2">
                  <c:v>71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FF6A2B"/>
            </a:solidFill>
            <a:ln w="31750" cap="flat">
              <a:solidFill>
                <a:srgbClr val="FF6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A2B"/>
              </a:solidFill>
              <a:ln w="9525" cap="flat">
                <a:solidFill>
                  <a:srgbClr val="FF6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</c:v>
                </c:pt>
                <c:pt idx="1">
                  <c:v>128</c:v>
                </c:pt>
                <c:pt idx="2">
                  <c:v>141</c:v>
                </c:pt>
                <c:pt idx="3">
                  <c:v>158</c:v>
                </c:pt>
                <c:pt idx="4">
                  <c:v>170</c:v>
                </c:pt>
                <c:pt idx="5">
                  <c:v>182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Evals</c:v>
                </c:pt>
              </c:strCache>
            </c:strRef>
          </c:tx>
          <c:spPr>
            <a:solidFill>
              <a:srgbClr val="5FAE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B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Mid-mkt</c:v>
                  </c:pt>
                  <c:pt idx="1">
                    <c:v>Ent</c:v>
                  </c:pt>
                  <c:pt idx="2">
                    <c:v>Startup</c:v>
                  </c:pt>
                  <c:pt idx="3">
                    <c:v>Agency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620</c:v>
                </c:pt>
                <c:pt idx="1">
                  <c:v>410</c:v>
                </c:pt>
                <c:pt idx="2">
                  <c:v>150</c:v>
                </c:pt>
                <c:pt idx="3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41B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%</c:v>
                </c:pt>
              </c:strCache>
            </c:strRef>
          </c:tx>
          <c:spPr>
            <a:solidFill>
              <a:srgbClr val="FF6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A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E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5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5C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A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Content/SEO</c:v>
                  </c:pt>
                  <c:pt idx="1">
                    <c:v>Paid social</c:v>
                  </c:pt>
                  <c:pt idx="2">
                    <c:v>Events</c:v>
                  </c:pt>
                  <c:pt idx="3">
                    <c:v>Partnerships</c:v>
                  </c:pt>
                  <c:pt idx="4">
                    <c:v>Email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4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" name="Shape 1"/>
          <p:cNvSpPr/>
          <p:nvPr/>
        </p:nvSpPr>
        <p:spPr>
          <a:xfrm>
            <a:off x="971092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" name="Shape 2"/>
          <p:cNvSpPr/>
          <p:nvPr/>
        </p:nvSpPr>
        <p:spPr>
          <a:xfrm>
            <a:off x="991209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" name="Shape 3"/>
          <p:cNvSpPr/>
          <p:nvPr/>
        </p:nvSpPr>
        <p:spPr>
          <a:xfrm>
            <a:off x="1011326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6" name="Shape 4"/>
          <p:cNvSpPr/>
          <p:nvPr/>
        </p:nvSpPr>
        <p:spPr>
          <a:xfrm>
            <a:off x="1031443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8" name="Shape 6"/>
          <p:cNvSpPr/>
          <p:nvPr/>
        </p:nvSpPr>
        <p:spPr>
          <a:xfrm>
            <a:off x="1071676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9" name="Shape 7"/>
          <p:cNvSpPr/>
          <p:nvPr/>
        </p:nvSpPr>
        <p:spPr>
          <a:xfrm>
            <a:off x="1091793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11910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1" name="Shape 9"/>
          <p:cNvSpPr/>
          <p:nvPr/>
        </p:nvSpPr>
        <p:spPr>
          <a:xfrm>
            <a:off x="1132027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092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991209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1326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1676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1793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1910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971092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991209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1326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1443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1560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676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1793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910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2027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950976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971092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991209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1326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1443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51560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676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1793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11910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2027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2" name="Shape 40"/>
          <p:cNvSpPr/>
          <p:nvPr/>
        </p:nvSpPr>
        <p:spPr>
          <a:xfrm>
            <a:off x="9509760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3" name="Shape 41"/>
          <p:cNvSpPr/>
          <p:nvPr/>
        </p:nvSpPr>
        <p:spPr>
          <a:xfrm>
            <a:off x="9710928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9912096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13264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14432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15600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16768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17936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19104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20272" y="1261872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6A2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 STRATEGY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22402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Deck Title Goes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Here — Bold &amp; Clear</a:t>
            </a:r>
            <a:endParaRPr lang="en-US" sz="5200" dirty="0"/>
          </a:p>
        </p:txBody>
      </p:sp>
      <p:sp>
        <p:nvSpPr>
          <p:cNvPr id="54" name="Shape 52"/>
          <p:cNvSpPr/>
          <p:nvPr/>
        </p:nvSpPr>
        <p:spPr>
          <a:xfrm>
            <a:off x="566928" y="4754880"/>
            <a:ext cx="3108960" cy="0"/>
          </a:xfrm>
          <a:prstGeom prst="line">
            <a:avLst/>
          </a:prstGeom>
          <a:noFill/>
          <a:ln w="31750">
            <a:solidFill>
              <a:srgbClr val="FF6A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4937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7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one-line value proposition for the presentation.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6928" y="5852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Aspiring AI Product Manager · Month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664208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865376" y="5303520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61872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664208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865376" y="5504688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704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61872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4208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865376" y="5705856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59536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0704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1872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64208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865376" y="5907024"/>
            <a:ext cx="45720" cy="45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40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2000" dirty="0"/>
          </a:p>
        </p:txBody>
      </p:sp>
      <p:sp>
        <p:nvSpPr>
          <p:cNvPr id="37" name="Text 35"/>
          <p:cNvSpPr/>
          <p:nvPr/>
        </p:nvSpPr>
        <p:spPr>
          <a:xfrm>
            <a:off x="4389120" y="21945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Cover B — Light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with side accent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438912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two-tone cover for case studies and project decks.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891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  ·  aspiring AI PM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6120" y="2286000"/>
            <a:ext cx="219456" cy="219456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6A2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QUARTERLY REVIEW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Minimal, Centered Cover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executive updates and internal reviews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4248" y="4709160"/>
            <a:ext cx="274320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786384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928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38528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 &amp;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8528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and why it matters now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161727" y="2039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974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697480"/>
            <a:ext cx="73152" cy="786384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38528" y="28254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 &amp; customer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8528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Segments, needs, and the opportunity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161727" y="2953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118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611880"/>
            <a:ext cx="73152" cy="786384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21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38528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options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38528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Frameworks, trade-offs, and our bet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161727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526280"/>
            <a:ext cx="73152" cy="786384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36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938528" y="4654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 &amp; roadmap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38528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Sequencing, milestones, and owners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161727" y="4782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5440680"/>
            <a:ext cx="1105783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5440680"/>
            <a:ext cx="73152" cy="786384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550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938528" y="55686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&amp; ask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38528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outcomes and the decision needed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61727" y="5696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Page 15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A5C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" name="Shape 3"/>
          <p:cNvSpPr/>
          <p:nvPr/>
        </p:nvSpPr>
        <p:spPr>
          <a:xfrm>
            <a:off x="10296144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6" name="Shape 4"/>
          <p:cNvSpPr/>
          <p:nvPr/>
        </p:nvSpPr>
        <p:spPr>
          <a:xfrm>
            <a:off x="10497312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1984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1" name="Shape 9"/>
          <p:cNvSpPr/>
          <p:nvPr/>
        </p:nvSpPr>
        <p:spPr>
          <a:xfrm>
            <a:off x="11503152" y="5120640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93808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94976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7312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1984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03152" y="5321808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3808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4976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144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99648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0816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03152" y="5522976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94976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96144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98480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99648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00816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1984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03152" y="5724144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2" name="Shape 40"/>
          <p:cNvSpPr/>
          <p:nvPr/>
        </p:nvSpPr>
        <p:spPr>
          <a:xfrm>
            <a:off x="9692640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3" name="Shape 41"/>
          <p:cNvSpPr/>
          <p:nvPr/>
        </p:nvSpPr>
        <p:spPr>
          <a:xfrm>
            <a:off x="9893808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94976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96144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97312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98480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99648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0816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01984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503152" y="5925312"/>
            <a:ext cx="45720" cy="45720"/>
          </a:xfrm>
          <a:prstGeom prst="ellipse">
            <a:avLst/>
          </a:prstGeom>
          <a:solidFill>
            <a:srgbClr val="9A7FB0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6D9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66928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 &amp; Customer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566928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D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serve, what they need, and the size of the prize.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66928" y="2542032"/>
            <a:ext cx="457200" cy="36576"/>
          </a:xfrm>
          <a:prstGeom prst="rect">
            <a:avLst/>
          </a:prstGeom>
          <a:solidFill>
            <a:srgbClr val="E0A53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story in one slide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078992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1109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is shifting toward AI-native workflows; incumbents are slow to adapt.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990088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990088"/>
            <a:ext cx="73152" cy="1078992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1810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4728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current product solves yesterday's problem and churn is rising in the core segment.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197096"/>
            <a:ext cx="67665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4197096"/>
            <a:ext cx="73152" cy="1078992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2511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5429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Reposition around an AI-assisted core, ship a focused v1 in 2 quarters, and defend the mid-market.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99248" y="1783080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27848" y="1892808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+38%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946136" y="2496312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retention lift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9248" y="2990088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27848" y="3099816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Q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946136" y="3703320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first shippable v1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99248" y="4197096"/>
            <a:ext cx="3925519" cy="10789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27848" y="4306824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$4.2M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946136" y="4910328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at risk if we wait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FRAMING · SCQA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 → Complication → Question → Answer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57400"/>
            <a:ext cx="731520" cy="731520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the stable starting context everyone agrees 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43936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9996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74288" y="2057400"/>
            <a:ext cx="731520" cy="73152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7428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7428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the change or tension that disrupts the situation.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76976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33008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7328" y="2057400"/>
            <a:ext cx="731520" cy="7315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07328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7328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natural question the complication raises for the audience.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10015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66047" y="1783080"/>
            <a:ext cx="2558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40367" y="2057400"/>
            <a:ext cx="731520" cy="73152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26" name="Text 24"/>
          <p:cNvSpPr/>
          <p:nvPr/>
        </p:nvSpPr>
        <p:spPr>
          <a:xfrm>
            <a:off x="9340367" y="2084832"/>
            <a:ext cx="731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340367" y="3017520"/>
            <a:ext cx="201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Answer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40367" y="3456432"/>
            <a:ext cx="201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governing thought — the answer this deck will defend.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 we're solving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73736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73736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65960"/>
            <a:ext cx="104177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mid-market product teams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who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struggle to evaluate AI models against real constraints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today's tools force a trade-off between speed and rigor — leaving teams to ship on gut feel or stall in analysis.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Manual eval takes 3–4 weeks per model decision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4314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914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914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~40% of pilots stall before a go/no-go 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1701" y="3794760"/>
            <a:ext cx="350306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0301" y="3977640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50301" y="4297680"/>
            <a:ext cx="30458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Wrong model choice = months of rework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Positioning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556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93008" y="17556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[target customer]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84848" y="1755648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product &amp; data teams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414016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323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4323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[need / opportunity]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84848" y="2432304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to choose AI models with confidence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1089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product is 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31089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[category]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3108960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 &amp; guardrails platform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767328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856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93008" y="37856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[key benefit]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785616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cuts eval time from weeks to days, safely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443984"/>
            <a:ext cx="110578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462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Unlike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93008" y="446227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[primary alternative]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4462272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spreadsheets and one-off benchmarks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5120640"/>
            <a:ext cx="11057839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51389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product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93008" y="51389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[differentiation]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4848" y="5138928"/>
            <a:ext cx="474847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capability, cost, latency &amp; safety together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the bracketed prompts with your specifics; keep the bold scaffolding.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 TO BE DONE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customers are really hiring us for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11057839" cy="9144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0"/>
            <a:ext cx="73152" cy="9144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74520"/>
            <a:ext cx="10509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When I'm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deciding which AI model to ship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I want to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compare them on the dimensions that matter to my users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, so I can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commit with confidence and defend the call.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3127248"/>
            <a:ext cx="457200" cy="4572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model that performs on the real task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914" y="3127248"/>
            <a:ext cx="457200" cy="45720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15" name="Text 13"/>
          <p:cNvSpPr/>
          <p:nvPr/>
        </p:nvSpPr>
        <p:spPr>
          <a:xfrm>
            <a:off x="5167274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Emotional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Feel confident, not anxious, about the decision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2926080"/>
            <a:ext cx="350306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0301" y="3127248"/>
            <a:ext cx="457200" cy="45720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44661" y="3154680"/>
            <a:ext cx="25886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Social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3749040"/>
            <a:ext cx="30458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seen as rigorous and data-driven by stakeholders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5029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· Pull · Habit · Anxiety  —  map the four forces that move (or block) the switch.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· BCG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Growth–share matrix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828800"/>
            <a:ext cx="1828800" cy="1828800"/>
          </a:xfrm>
          <a:prstGeom prst="rect">
            <a:avLst/>
          </a:prstGeom>
          <a:solidFill>
            <a:srgbClr val="5FAE7E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52928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growth · high share — invest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1828800" cy="1828800"/>
          </a:xfrm>
          <a:prstGeom prst="rect">
            <a:avLst/>
          </a:prstGeom>
          <a:solidFill>
            <a:srgbClr val="E0A53C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9202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Question marks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growth · low share — decide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657600"/>
            <a:ext cx="1828800" cy="1828800"/>
          </a:xfrm>
          <a:prstGeom prst="rect">
            <a:avLst/>
          </a:prstGeom>
          <a:solidFill>
            <a:srgbClr val="7A5C8E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3749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Cash cows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529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growth · high share — harvest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3657600"/>
            <a:ext cx="1828800" cy="1828800"/>
          </a:xfrm>
          <a:prstGeom prst="rect">
            <a:avLst/>
          </a:prstGeom>
          <a:solidFill>
            <a:srgbClr val="F5EDE0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7490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growth · low share — divest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914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growth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559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market share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7580" y="3177540"/>
            <a:ext cx="502920" cy="502920"/>
          </a:xfrm>
          <a:prstGeom prst="ellipse">
            <a:avLst/>
          </a:prstGeom>
          <a:solidFill>
            <a:srgbClr val="5FAE7E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6987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E0A53C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21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add-on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37560" y="4754880"/>
            <a:ext cx="640080" cy="640080"/>
          </a:xfrm>
          <a:prstGeom prst="ellipse">
            <a:avLst/>
          </a:prstGeom>
          <a:solidFill>
            <a:srgbClr val="7A5C8E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5413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40680" y="4983480"/>
            <a:ext cx="274320" cy="274320"/>
          </a:xfrm>
          <a:prstGeom prst="ellipse">
            <a:avLst/>
          </a:prstGeom>
          <a:solidFill>
            <a:srgbClr val="FF6A2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5276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1828800"/>
            <a:ext cx="47667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to read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2240280"/>
            <a:ext cx="4766767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Bubble size = revenue contribution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Stars: fund aggressively to hold the lead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cows: milk to fund stars &amp; question marks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marks: pick winners, kill the rest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Dogs: divest or reposition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Porter's Five Forces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41368" y="3154680"/>
            <a:ext cx="3108960" cy="13716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41368" y="3154680"/>
            <a:ext cx="73152" cy="13716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4541368" y="3246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Competitive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Rivalry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413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— many AI tooling entrants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41368" y="17830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4248" y="1911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 entrants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24248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low capital, high churn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1368" y="480060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24248" y="4928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Substitutes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4248" y="5349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in-house builds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Supplier 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· few model providers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15807" y="315468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98687" y="3282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Buyer power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8687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 · price-sensitive mid-market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5848" y="2880360"/>
            <a:ext cx="0" cy="2743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95848" y="4526280"/>
            <a:ext cx="0" cy="2743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75888" y="3703320"/>
            <a:ext cx="865480" cy="457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50328" y="3703320"/>
            <a:ext cx="865480" cy="45720"/>
          </a:xfrm>
          <a:prstGeom prst="line">
            <a:avLst/>
          </a:prstGeom>
          <a:noFill/>
          <a:ln w="15875">
            <a:solidFill>
              <a:srgbClr val="CDBBA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STRUCTURING · MECE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Issue tree (mutually exclusive, collectively exhaustive)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926080"/>
            <a:ext cx="2468880" cy="91440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926080"/>
            <a:ext cx="73152" cy="9144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0358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do we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 revenue?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75888" y="178308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783080"/>
            <a:ext cx="73152" cy="6400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New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35808" y="3383280"/>
            <a:ext cx="64008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974" y="2103120"/>
            <a:ext cx="0" cy="128016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1645920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645920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new segments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212848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212848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win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779776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779776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new geographies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53328" y="210312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75888" y="393192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75888" y="3931920"/>
            <a:ext cx="73152" cy="6400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Existing customers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35808" y="3383280"/>
            <a:ext cx="640080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74974" y="3383280"/>
            <a:ext cx="0" cy="86868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3794760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3794760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churn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7648" y="4361688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4361688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Upsell / cross-sell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7648" y="4928616"/>
            <a:ext cx="529711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4928616"/>
            <a:ext cx="5022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net pricing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053328" y="4251960"/>
            <a:ext cx="274320" cy="0"/>
          </a:xfrm>
          <a:prstGeom prst="line">
            <a:avLst/>
          </a:prstGeom>
          <a:noFill/>
          <a:ln w="9525">
            <a:solidFill>
              <a:srgbClr val="E3D6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End-to-end journey 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1737360"/>
            <a:ext cx="1803745" cy="457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7" name="Text 5"/>
          <p:cNvSpPr/>
          <p:nvPr/>
        </p:nvSpPr>
        <p:spPr>
          <a:xfrm>
            <a:off x="1801368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Awareness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06281" y="1737360"/>
            <a:ext cx="1803745" cy="4572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9" name="Text 7"/>
          <p:cNvSpPr/>
          <p:nvPr/>
        </p:nvSpPr>
        <p:spPr>
          <a:xfrm>
            <a:off x="3806281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Consideration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11195" y="1737360"/>
            <a:ext cx="1803745" cy="4572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1" name="Text 9"/>
          <p:cNvSpPr/>
          <p:nvPr/>
        </p:nvSpPr>
        <p:spPr>
          <a:xfrm>
            <a:off x="5811195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Onboarding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6108" y="1737360"/>
            <a:ext cx="1803745" cy="4572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3" name="Text 11"/>
          <p:cNvSpPr/>
          <p:nvPr/>
        </p:nvSpPr>
        <p:spPr>
          <a:xfrm>
            <a:off x="7816108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Adoption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21022" y="1737360"/>
            <a:ext cx="1803745" cy="457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821022" y="1737360"/>
            <a:ext cx="1803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Advocacy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28600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01368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for a 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06281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6009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a benchmark blog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11195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923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Signs up &amp; connects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16108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25836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first real eval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21022" y="2286000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0750" y="2286000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Shares results internally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" y="299923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01368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11096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· LinkedIn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06281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6009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 · case study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11195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0923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16108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5836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821022" y="2999232"/>
            <a:ext cx="1803745" cy="676656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0750" y="2999232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· referrals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" y="3712464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01368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65960" y="3959352"/>
            <a:ext cx="182880" cy="182880"/>
          </a:xfrm>
          <a:prstGeom prst="ellipse">
            <a:avLst/>
          </a:prstGeom>
          <a:solidFill>
            <a:srgbClr val="C2503A"/>
          </a:solidFill>
          <a:ln/>
        </p:spPr>
      </p:sp>
      <p:sp>
        <p:nvSpPr>
          <p:cNvPr id="41" name="Text 39"/>
          <p:cNvSpPr/>
          <p:nvPr/>
        </p:nvSpPr>
        <p:spPr>
          <a:xfrm>
            <a:off x="2221992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06281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0873" y="3959352"/>
            <a:ext cx="182880" cy="18288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44" name="Text 42"/>
          <p:cNvSpPr/>
          <p:nvPr/>
        </p:nvSpPr>
        <p:spPr>
          <a:xfrm>
            <a:off x="4226905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Curious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11195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75787" y="3959352"/>
            <a:ext cx="182880" cy="182880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47" name="Text 45"/>
          <p:cNvSpPr/>
          <p:nvPr/>
        </p:nvSpPr>
        <p:spPr>
          <a:xfrm>
            <a:off x="6231819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Hopeful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16108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80700" y="3959352"/>
            <a:ext cx="182880" cy="182880"/>
          </a:xfrm>
          <a:prstGeom prst="ellipse">
            <a:avLst/>
          </a:prstGeom>
          <a:solidFill>
            <a:srgbClr val="3E8E63"/>
          </a:solidFill>
          <a:ln/>
        </p:spPr>
      </p:sp>
      <p:sp>
        <p:nvSpPr>
          <p:cNvPr id="50" name="Text 48"/>
          <p:cNvSpPr/>
          <p:nvPr/>
        </p:nvSpPr>
        <p:spPr>
          <a:xfrm>
            <a:off x="8236732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21022" y="3712464"/>
            <a:ext cx="1803745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85614" y="3959352"/>
            <a:ext cx="182880" cy="18288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53" name="Text 51"/>
          <p:cNvSpPr/>
          <p:nvPr/>
        </p:nvSpPr>
        <p:spPr>
          <a:xfrm>
            <a:off x="10241646" y="3712464"/>
            <a:ext cx="130082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Delighted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21208" y="4425696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01368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11096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POV content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06281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16009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&amp; social proof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11195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0923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time-to-value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16108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25836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 to 'aha'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21022" y="4425696"/>
            <a:ext cx="1803745" cy="676656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30750" y="4425696"/>
            <a:ext cx="158428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sharing easy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PRIORITIZATION · RICE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Reach × Impact × Confidence ÷ Effort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1089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7588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9" name="Text 7"/>
          <p:cNvSpPr/>
          <p:nvPr/>
        </p:nvSpPr>
        <p:spPr>
          <a:xfrm>
            <a:off x="378561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598017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24928" y="1783080"/>
            <a:ext cx="10972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5" name="Text 13"/>
          <p:cNvSpPr/>
          <p:nvPr/>
        </p:nvSpPr>
        <p:spPr>
          <a:xfrm>
            <a:off x="7534656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22208" y="1783080"/>
            <a:ext cx="137160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9380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0353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24028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2402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eval scoring v1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7588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70448" y="224028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2240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24928" y="224028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34656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2240280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2240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4,320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893808" y="2240280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7000" y="2386584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DCEFE3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0" y="2382012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2807208"/>
            <a:ext cx="310896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28072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7588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8561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7316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70448" y="2807208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8072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24928" y="2807208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522208" y="2807208"/>
            <a:ext cx="1371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28072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2,400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893808" y="2807208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87000" y="295351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DCEFE3"/>
          </a:solidFill>
          <a:ln/>
        </p:spPr>
      </p:sp>
      <p:sp>
        <p:nvSpPr>
          <p:cNvPr id="49" name="Text 47"/>
          <p:cNvSpPr/>
          <p:nvPr/>
        </p:nvSpPr>
        <p:spPr>
          <a:xfrm>
            <a:off x="10287000" y="294894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337413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3374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onboarding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67588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8561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77316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8289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870448" y="337413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0176" y="33741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424928" y="3374136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34656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522208" y="3374136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31936" y="33741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3,500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893808" y="337413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87000" y="3520440"/>
            <a:ext cx="486461" cy="292608"/>
          </a:xfrm>
          <a:prstGeom prst="roundRect">
            <a:avLst>
              <a:gd name="adj" fmla="val 50000"/>
            </a:avLst>
          </a:prstGeom>
          <a:solidFill>
            <a:srgbClr val="FAEBCF"/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3515868"/>
            <a:ext cx="4864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66928" y="3941064"/>
            <a:ext cx="310896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" y="39410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integ.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67588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8561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4k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7316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8289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870448" y="3941064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80176" y="39410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24928" y="3941064"/>
            <a:ext cx="10972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34656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8522208" y="3941064"/>
            <a:ext cx="137160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31936" y="39410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500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9893808" y="3941064"/>
            <a:ext cx="1554480" cy="56692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87000" y="40873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AE0F0"/>
          </a:solidFill>
          <a:ln/>
        </p:spPr>
      </p:sp>
      <p:sp>
        <p:nvSpPr>
          <p:cNvPr id="79" name="Text 77"/>
          <p:cNvSpPr/>
          <p:nvPr/>
        </p:nvSpPr>
        <p:spPr>
          <a:xfrm>
            <a:off x="10287000" y="4082796"/>
            <a:ext cx="557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66928" y="450799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6656" y="45079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mode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367588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8561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2k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77316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870448" y="45079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0176" y="45079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7424928" y="4507992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34656" y="45079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522208" y="4507992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31936" y="45079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200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893808" y="450799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87000" y="4654296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AE0F0"/>
          </a:solidFill>
          <a:ln/>
        </p:spPr>
      </p:sp>
      <p:sp>
        <p:nvSpPr>
          <p:cNvPr id="94" name="Text 92"/>
          <p:cNvSpPr/>
          <p:nvPr/>
        </p:nvSpPr>
        <p:spPr>
          <a:xfrm>
            <a:off x="10287000" y="4649724"/>
            <a:ext cx="557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66928" y="5184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RICE = (Reach × Impact × Confidence) ÷ Effort. Sort descending; draw the line where capacity runs out.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Now · Next · Later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472586" cy="566928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10714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quarter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6060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eval scoring v1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204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Guardrails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434840"/>
            <a:ext cx="73152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Core dashboard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59554" y="1783080"/>
            <a:ext cx="3472586" cy="566928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88154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3341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1–2 quarters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59554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2434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2434" y="26060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25314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Self-serve onboarding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42434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2434" y="35204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25314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Alerts &amp; reports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42434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2434" y="4434840"/>
            <a:ext cx="73152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31" name="Text 29"/>
          <p:cNvSpPr/>
          <p:nvPr/>
        </p:nvSpPr>
        <p:spPr>
          <a:xfrm>
            <a:off x="4725314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workspaces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52181" y="1783080"/>
            <a:ext cx="3472586" cy="566928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8380781" y="1783080"/>
            <a:ext cx="2100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LATER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95967" y="1783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Exploratory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52181" y="2395728"/>
            <a:ext cx="347258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35061" y="26060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5061" y="26060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8" name="Text 36"/>
          <p:cNvSpPr/>
          <p:nvPr/>
        </p:nvSpPr>
        <p:spPr>
          <a:xfrm>
            <a:off x="8517941" y="26060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Marketplace integrations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35061" y="35204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5061" y="35204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41" name="Text 39"/>
          <p:cNvSpPr/>
          <p:nvPr/>
        </p:nvSpPr>
        <p:spPr>
          <a:xfrm>
            <a:off x="8517941" y="35204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White-label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35061" y="4434840"/>
            <a:ext cx="3106826" cy="7315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5061" y="4434840"/>
            <a:ext cx="73152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44" name="Text 42"/>
          <p:cNvSpPr/>
          <p:nvPr/>
        </p:nvSpPr>
        <p:spPr>
          <a:xfrm>
            <a:off x="8517941" y="443484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Mobile companion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GANTT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Delivery timeline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75888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59097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9097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2306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2306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25514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5514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08723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8723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1932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1932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75141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5141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58350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8350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741558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41558" y="1783080"/>
            <a:ext cx="883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624767" y="2103120"/>
            <a:ext cx="0" cy="3493008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121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&amp; research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75888" y="2203704"/>
            <a:ext cx="1766418" cy="329184"/>
          </a:xfrm>
          <a:prstGeom prst="roundRect">
            <a:avLst>
              <a:gd name="adj" fmla="val 16667"/>
            </a:avLst>
          </a:prstGeom>
          <a:solidFill>
            <a:srgbClr val="5FAE7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framework build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00701" y="2770632"/>
            <a:ext cx="2649626" cy="329184"/>
          </a:xfrm>
          <a:prstGeom prst="roundRect">
            <a:avLst>
              <a:gd name="adj" fmla="val 16667"/>
            </a:avLst>
          </a:prstGeom>
          <a:solidFill>
            <a:srgbClr val="FF6A2B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255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25514" y="3337560"/>
            <a:ext cx="2208022" cy="329184"/>
          </a:xfrm>
          <a:prstGeom prst="roundRect">
            <a:avLst>
              <a:gd name="adj" fmla="val 16667"/>
            </a:avLst>
          </a:prstGeom>
          <a:solidFill>
            <a:srgbClr val="FF6A2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with 3 design partners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50328" y="3904488"/>
            <a:ext cx="2649626" cy="329184"/>
          </a:xfrm>
          <a:prstGeom prst="roundRect">
            <a:avLst>
              <a:gd name="adj" fmla="val 16667"/>
            </a:avLst>
          </a:prstGeom>
          <a:solidFill>
            <a:srgbClr val="E0A53C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&amp; launch prep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75141" y="4471416"/>
            <a:ext cx="1766418" cy="329184"/>
          </a:xfrm>
          <a:prstGeom prst="roundRect">
            <a:avLst>
              <a:gd name="adj" fmla="val 16667"/>
            </a:avLst>
          </a:prstGeom>
          <a:solidFill>
            <a:srgbClr val="7A5C8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 launch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631830" y="5038344"/>
            <a:ext cx="310896" cy="310896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5687568"/>
            <a:ext cx="794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Bars = workstreams · diamond = milestone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recommendation &amp; the ask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18872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1887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20240"/>
            <a:ext cx="10417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Reposition around an AI-assisted evaluation core, ship a focused v1 in two quarters, and defend the mid-market with guardrails as the wedge.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200400"/>
            <a:ext cx="73152" cy="24688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now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shifting to AI-native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rising in core segment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$4.2M ARR at risk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4314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4314" y="3200400"/>
            <a:ext cx="73152" cy="24688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00346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00346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quarters of focused build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design-partner commitments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Reallocate 4 FTE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3200400"/>
            <a:ext cx="350306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1701" y="3200400"/>
            <a:ext cx="73152" cy="24688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9" name="Text 17"/>
          <p:cNvSpPr/>
          <p:nvPr/>
        </p:nvSpPr>
        <p:spPr>
          <a:xfrm>
            <a:off x="8377733" y="33649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7733" y="3840480"/>
            <a:ext cx="300014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+38% retention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time weeks → days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 wedge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" name="Shape 1"/>
          <p:cNvSpPr/>
          <p:nvPr/>
        </p:nvSpPr>
        <p:spPr>
          <a:xfrm>
            <a:off x="989380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5" name="Shape 3"/>
          <p:cNvSpPr/>
          <p:nvPr/>
        </p:nvSpPr>
        <p:spPr>
          <a:xfrm>
            <a:off x="1029614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6" name="Shape 4"/>
          <p:cNvSpPr/>
          <p:nvPr/>
        </p:nvSpPr>
        <p:spPr>
          <a:xfrm>
            <a:off x="1049731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1301984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1" name="Shape 9"/>
          <p:cNvSpPr/>
          <p:nvPr/>
        </p:nvSpPr>
        <p:spPr>
          <a:xfrm>
            <a:off x="11503152" y="457200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89380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9497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9731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0816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01984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03152" y="658368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380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9497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14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98480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99648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00816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03152" y="859536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380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9497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9614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98480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99648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00816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01984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03152" y="1060704"/>
            <a:ext cx="45720" cy="45720"/>
          </a:xfrm>
          <a:prstGeom prst="ellipse">
            <a:avLst/>
          </a:prstGeom>
          <a:solidFill>
            <a:srgbClr val="5C4A3A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3" name="Shape 41"/>
          <p:cNvSpPr/>
          <p:nvPr/>
        </p:nvSpPr>
        <p:spPr>
          <a:xfrm>
            <a:off x="566928" y="3520440"/>
            <a:ext cx="2743200" cy="0"/>
          </a:xfrm>
          <a:prstGeom prst="line">
            <a:avLst/>
          </a:prstGeom>
          <a:noFill/>
          <a:ln w="31750">
            <a:solidFill>
              <a:srgbClr val="FF6A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7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 welcome.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66928" y="4846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arunteja2000@gmail.com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linkedin.com/in/arun-teja-kamisetti  ·  github.com/ArunTejaKamisetti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· SWOT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Strengths, Weaknesses, Opportunities, Threats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39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8745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9384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488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model-eval expertise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0→1 execution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guardrails 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9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783080"/>
            <a:ext cx="73152" cy="1874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89040" y="1929384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9040" y="2350008"/>
            <a:ext cx="488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brand footprint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sales motion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Single-region presence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539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886200"/>
            <a:ext cx="73152" cy="1874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32504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453128"/>
            <a:ext cx="488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budget growth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Underserved mid-market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ecosystem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886200"/>
            <a:ext cx="539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3008" y="3886200"/>
            <a:ext cx="73152" cy="1874520"/>
          </a:xfrm>
          <a:prstGeom prst="rect">
            <a:avLst/>
          </a:prstGeom>
          <a:solidFill>
            <a:srgbClr val="C250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89040" y="4032504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0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Threats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9040" y="4453128"/>
            <a:ext cx="488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Well-funded entrants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in-house builds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Model-provider lock-in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 · PESTEL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Political · Economic · Social · Technological · Environmental · Legal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984248"/>
            <a:ext cx="566928" cy="566928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00253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1328" y="20391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Political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regulation &amp; data-sovereignty rules tightening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178308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6818" y="1984248"/>
            <a:ext cx="566928" cy="566928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13" name="Text 11"/>
          <p:cNvSpPr/>
          <p:nvPr/>
        </p:nvSpPr>
        <p:spPr>
          <a:xfrm>
            <a:off x="4566818" y="200253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2618" y="20391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4250" y="269748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Tighter budgets push ROI-driven buying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9509" y="178308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8109" y="1984248"/>
            <a:ext cx="566928" cy="566928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8109" y="200253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23909" y="20391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Social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5541" y="269748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trust concerns around AI outputs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79476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" y="3995928"/>
            <a:ext cx="566928" cy="566928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40142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81328" y="40507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Technological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70916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model improvement &amp; cost decline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38218" y="379476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6818" y="3995928"/>
            <a:ext cx="566928" cy="566928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28" name="Text 26"/>
          <p:cNvSpPr/>
          <p:nvPr/>
        </p:nvSpPr>
        <p:spPr>
          <a:xfrm>
            <a:off x="4566818" y="40142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52618" y="40507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4250" y="470916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energy footprint scrutiny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09509" y="3794760"/>
            <a:ext cx="351525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8109" y="3995928"/>
            <a:ext cx="566928" cy="566928"/>
          </a:xfrm>
          <a:prstGeom prst="ellipse">
            <a:avLst/>
          </a:prstGeom>
          <a:solidFill>
            <a:srgbClr val="C2503A"/>
          </a:solidFill>
          <a:ln/>
        </p:spPr>
      </p:sp>
      <p:sp>
        <p:nvSpPr>
          <p:cNvPr id="33" name="Text 31"/>
          <p:cNvSpPr/>
          <p:nvPr/>
        </p:nvSpPr>
        <p:spPr>
          <a:xfrm>
            <a:off x="8338109" y="40142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023909" y="40507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Legal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5541" y="4709160"/>
            <a:ext cx="3012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IP, liability &amp; audit requirements emerging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· VALUE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value is created (Porter)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996055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830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9960559" cy="420624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860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88920"/>
            <a:ext cx="9960559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889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9960559" cy="420624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918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18927" y="178308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18927" y="1783080"/>
            <a:ext cx="1005840" cy="2011680"/>
          </a:xfrm>
          <a:prstGeom prst="rect">
            <a:avLst/>
          </a:prstGeom>
          <a:solidFill>
            <a:srgbClr val="7A5C8E">
              <a:alpha val="12000"/>
            </a:srgbClr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114800"/>
            <a:ext cx="2079894" cy="1005840"/>
          </a:xfrm>
          <a:prstGeom prst="rect">
            <a:avLst/>
          </a:prstGeom>
          <a:solidFill>
            <a:srgbClr val="FF6A2B">
              <a:alpha val="18000"/>
            </a:srgbClr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14800"/>
            <a:ext cx="18970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 logistics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8534" y="41148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811414" y="4114800"/>
            <a:ext cx="2079894" cy="1005840"/>
          </a:xfrm>
          <a:prstGeom prst="rect">
            <a:avLst/>
          </a:prstGeom>
          <a:solidFill>
            <a:srgbClr val="FF6A2B">
              <a:alpha val="22000"/>
            </a:srgbClr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2854" y="4114800"/>
            <a:ext cx="18970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020" y="41148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55900" y="4114800"/>
            <a:ext cx="2079894" cy="1005840"/>
          </a:xfrm>
          <a:prstGeom prst="rect">
            <a:avLst/>
          </a:prstGeom>
          <a:solidFill>
            <a:srgbClr val="FF6A2B">
              <a:alpha val="26000"/>
            </a:srgbClr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7340" y="4114800"/>
            <a:ext cx="18970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Outbound logistics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17507" y="41148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00387" y="4114800"/>
            <a:ext cx="2079894" cy="1005840"/>
          </a:xfrm>
          <a:prstGeom prst="rect">
            <a:avLst/>
          </a:prstGeom>
          <a:solidFill>
            <a:srgbClr val="FF6A2B">
              <a:alpha val="30000"/>
            </a:srgbClr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1827" y="4114800"/>
            <a:ext cx="18970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&amp; sales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61993" y="411480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44873" y="4114800"/>
            <a:ext cx="2079894" cy="1005840"/>
          </a:xfrm>
          <a:prstGeom prst="rect">
            <a:avLst/>
          </a:prstGeom>
          <a:solidFill>
            <a:srgbClr val="FF6A2B">
              <a:alpha val="34000"/>
            </a:srgbClr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36313" y="4114800"/>
            <a:ext cx="18970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93008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= value delivered − cost across the chain.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· 3C'S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 · Customer · Competition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36576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251460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capabilities, assets &amp; economics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+ guardrails IP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cost base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technical team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783080"/>
            <a:ext cx="350306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4314" y="1783080"/>
            <a:ext cx="73152" cy="36576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8634" y="2011680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8634" y="251460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 &amp; what they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8634" y="320040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PM/data teams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speed + rigor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Price-sensitive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1783080"/>
            <a:ext cx="350306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1701" y="1783080"/>
            <a:ext cx="73152" cy="36576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8" name="Text 16"/>
          <p:cNvSpPr/>
          <p:nvPr/>
        </p:nvSpPr>
        <p:spPr>
          <a:xfrm>
            <a:off x="8396021" y="2011680"/>
            <a:ext cx="29544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Competition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6021" y="251460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Rivals &amp; the basis of advantage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96021" y="3200400"/>
            <a:ext cx="295442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Spreadsheet status quo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Point-tool entrants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 builds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7 P'S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extended marketing mix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6916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251985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95528" y="205740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60604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+ guardrails platform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8538" y="178308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8538" y="1783080"/>
            <a:ext cx="73152" cy="169164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341468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17138" y="205740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7138" y="260604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Tiered, usage-based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0148" y="178308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0148" y="1783080"/>
            <a:ext cx="73152" cy="169164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8" name="Text 16"/>
          <p:cNvSpPr/>
          <p:nvPr/>
        </p:nvSpPr>
        <p:spPr>
          <a:xfrm>
            <a:off x="8163077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38748" y="205740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8748" y="260604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+ direct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31757" y="178308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31757" y="1783080"/>
            <a:ext cx="73152" cy="169164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84687" y="1874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60357" y="205740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0357" y="260604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Content-led, POV-driven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74904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749040"/>
            <a:ext cx="73152" cy="16916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8" name="Text 26"/>
          <p:cNvSpPr/>
          <p:nvPr/>
        </p:nvSpPr>
        <p:spPr>
          <a:xfrm>
            <a:off x="2519858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95528" y="402336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People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5528" y="457200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onboarding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8538" y="374904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8538" y="3749040"/>
            <a:ext cx="73152" cy="169164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33" name="Text 31"/>
          <p:cNvSpPr/>
          <p:nvPr/>
        </p:nvSpPr>
        <p:spPr>
          <a:xfrm>
            <a:off x="5341468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617138" y="402336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Process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617138" y="457200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time-to-value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0148" y="3749040"/>
            <a:ext cx="259301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0148" y="3749040"/>
            <a:ext cx="73152" cy="169164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38" name="Text 36"/>
          <p:cNvSpPr/>
          <p:nvPr/>
        </p:nvSpPr>
        <p:spPr>
          <a:xfrm>
            <a:off x="8163077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3D6C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38748" y="4023360"/>
            <a:ext cx="213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Physical evidence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38748" y="4572000"/>
            <a:ext cx="21358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Reports, dashboards, proof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· BMC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Model Canvas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15670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0"/>
            <a:ext cx="73152" cy="24688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1051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121408"/>
            <a:ext cx="193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providers, cloud, channel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8496" y="1737360"/>
            <a:ext cx="21567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8496" y="1737360"/>
            <a:ext cx="73152" cy="11887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2" name="Text 10"/>
          <p:cNvSpPr/>
          <p:nvPr/>
        </p:nvSpPr>
        <p:spPr>
          <a:xfrm>
            <a:off x="2924800" y="181051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4800" y="2121408"/>
            <a:ext cx="193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R&amp;D, guardrails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78496" y="3017520"/>
            <a:ext cx="21567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8496" y="3017520"/>
            <a:ext cx="73152" cy="11887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6" name="Text 14"/>
          <p:cNvSpPr/>
          <p:nvPr/>
        </p:nvSpPr>
        <p:spPr>
          <a:xfrm>
            <a:off x="2924800" y="309067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4800" y="3401568"/>
            <a:ext cx="193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IP, data, 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90064" y="1737360"/>
            <a:ext cx="215670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0064" y="1737360"/>
            <a:ext cx="73152" cy="24688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0" name="Text 18"/>
          <p:cNvSpPr/>
          <p:nvPr/>
        </p:nvSpPr>
        <p:spPr>
          <a:xfrm>
            <a:off x="5136368" y="181051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6368" y="2121408"/>
            <a:ext cx="193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AI models with confidence — speed + rigor + safety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01632" y="1737360"/>
            <a:ext cx="21567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1632" y="1737360"/>
            <a:ext cx="73152" cy="11887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47936" y="181051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Customer relationships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47936" y="2121408"/>
            <a:ext cx="193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+ expert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01632" y="3017520"/>
            <a:ext cx="21567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1632" y="3017520"/>
            <a:ext cx="73152" cy="11887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8" name="Text 26"/>
          <p:cNvSpPr/>
          <p:nvPr/>
        </p:nvSpPr>
        <p:spPr>
          <a:xfrm>
            <a:off x="7347936" y="309067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Channels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47936" y="3401568"/>
            <a:ext cx="193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Product, content, direct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13199" y="1737360"/>
            <a:ext cx="215670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3199" y="1737360"/>
            <a:ext cx="73152" cy="24688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2" name="Text 30"/>
          <p:cNvSpPr/>
          <p:nvPr/>
        </p:nvSpPr>
        <p:spPr>
          <a:xfrm>
            <a:off x="9559503" y="1810512"/>
            <a:ext cx="193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59503" y="2121408"/>
            <a:ext cx="1937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PM &amp; data teams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315968"/>
            <a:ext cx="54740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315968"/>
            <a:ext cx="73152" cy="105156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389120"/>
            <a:ext cx="519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" y="4700016"/>
            <a:ext cx="519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Compute, R&amp;D, GTM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50712" y="4315968"/>
            <a:ext cx="54740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0712" y="4315968"/>
            <a:ext cx="73152" cy="105156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40" name="Text 38"/>
          <p:cNvSpPr/>
          <p:nvPr/>
        </p:nvSpPr>
        <p:spPr>
          <a:xfrm>
            <a:off x="6297016" y="4389120"/>
            <a:ext cx="519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97016" y="4700016"/>
            <a:ext cx="519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+ usage tiers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· 2×2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Impact vs. Effort matrix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828800"/>
            <a:ext cx="1828800" cy="1828800"/>
          </a:xfrm>
          <a:prstGeom prst="rect">
            <a:avLst/>
          </a:prstGeom>
          <a:solidFill>
            <a:srgbClr val="5FAE7E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35808" y="19202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1828800" cy="1828800"/>
          </a:xfrm>
          <a:prstGeom prst="rect">
            <a:avLst/>
          </a:prstGeom>
          <a:solidFill>
            <a:srgbClr val="FF6A2B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9202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Big bets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3657600"/>
            <a:ext cx="1828800" cy="1828800"/>
          </a:xfrm>
          <a:prstGeom prst="rect">
            <a:avLst/>
          </a:prstGeom>
          <a:solidFill>
            <a:srgbClr val="E0A53C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37490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Fill-ins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657600"/>
            <a:ext cx="1828800" cy="1828800"/>
          </a:xfrm>
          <a:prstGeom prst="rect">
            <a:avLst/>
          </a:prstGeom>
          <a:solidFill>
            <a:srgbClr val="F5EDE0">
              <a:alpha val="14000"/>
            </a:srgbClr>
          </a:solidFill>
          <a:ln w="9525">
            <a:solidFill>
              <a:srgbClr val="E3D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37490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Money pit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972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5559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 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75888" y="2578608"/>
            <a:ext cx="329184" cy="329184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24528" y="3035808"/>
            <a:ext cx="329184" cy="329184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04688" y="2761488"/>
            <a:ext cx="329184" cy="329184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58768" y="4407408"/>
            <a:ext cx="329184" cy="329184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96128" y="4590288"/>
            <a:ext cx="329184" cy="329184"/>
          </a:xfrm>
          <a:prstGeom prst="ellipse">
            <a:avLst/>
          </a:prstGeom>
          <a:solidFill>
            <a:srgbClr val="241B1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1828800"/>
            <a:ext cx="45838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Sequence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240280"/>
            <a:ext cx="4583887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B → quick wins, ship first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→ big bet, resource 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→ fill-in when idle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→ avoid / deprioritize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· SEGMENTATION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Target segments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840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783080"/>
            <a:ext cx="12801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9" name="Text 7"/>
          <p:cNvSpPr/>
          <p:nvPr/>
        </p:nvSpPr>
        <p:spPr>
          <a:xfrm>
            <a:off x="4517136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87568" y="1783080"/>
            <a:ext cx="274320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5797296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30768" y="1783080"/>
            <a:ext cx="21945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8540496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Willingness to pay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25328" y="1783080"/>
            <a:ext cx="100584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5" name="Text 13"/>
          <p:cNvSpPr/>
          <p:nvPr/>
        </p:nvSpPr>
        <p:spPr>
          <a:xfrm>
            <a:off x="10735056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24028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40280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product teams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07408" y="2240280"/>
            <a:ext cx="1280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2240280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87568" y="2240280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5584" y="224028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+ rigor in eval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30768" y="2240280"/>
            <a:ext cx="2194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2240280"/>
            <a:ext cx="1975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625328" y="2240280"/>
            <a:ext cx="1005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53928" y="2450592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FEFE4"/>
          </a:solidFill>
          <a:ln/>
        </p:spPr>
      </p:sp>
      <p:sp>
        <p:nvSpPr>
          <p:cNvPr id="26" name="Text 24"/>
          <p:cNvSpPr/>
          <p:nvPr/>
        </p:nvSpPr>
        <p:spPr>
          <a:xfrm>
            <a:off x="10853928" y="2446020"/>
            <a:ext cx="34381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2953512"/>
            <a:ext cx="384048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2953512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platform teams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07408" y="2953512"/>
            <a:ext cx="128016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953512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87568" y="2953512"/>
            <a:ext cx="274320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15584" y="295351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audit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30768" y="2953512"/>
            <a:ext cx="219456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58784" y="2953512"/>
            <a:ext cx="1975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625328" y="2953512"/>
            <a:ext cx="100584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53928" y="3163824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FEFE4"/>
          </a:solidFill>
          <a:ln/>
        </p:spPr>
      </p:sp>
      <p:sp>
        <p:nvSpPr>
          <p:cNvPr id="37" name="Text 35"/>
          <p:cNvSpPr/>
          <p:nvPr/>
        </p:nvSpPr>
        <p:spPr>
          <a:xfrm>
            <a:off x="10853928" y="3159252"/>
            <a:ext cx="34381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3666744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" y="3666744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 / indie builders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07408" y="3666744"/>
            <a:ext cx="1280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3666744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87568" y="3666744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15584" y="3666744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Cheap, fast answers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30768" y="3666744"/>
            <a:ext cx="2194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58784" y="3666744"/>
            <a:ext cx="1975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625328" y="3666744"/>
            <a:ext cx="1005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53928" y="3877056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FEFE4"/>
          </a:solidFill>
          <a:ln/>
        </p:spPr>
      </p:sp>
      <p:sp>
        <p:nvSpPr>
          <p:cNvPr id="48" name="Text 46"/>
          <p:cNvSpPr/>
          <p:nvPr/>
        </p:nvSpPr>
        <p:spPr>
          <a:xfrm>
            <a:off x="10853928" y="3872484"/>
            <a:ext cx="34381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4379976"/>
            <a:ext cx="384048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4379976"/>
            <a:ext cx="3621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Agencies &amp; consultancies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407408" y="4379976"/>
            <a:ext cx="128016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35424" y="4379976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87568" y="4379976"/>
            <a:ext cx="274320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5584" y="437997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reporting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430768" y="4379976"/>
            <a:ext cx="219456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58784" y="4379976"/>
            <a:ext cx="1975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10625328" y="4379976"/>
            <a:ext cx="1005840" cy="713232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853928" y="4590288"/>
            <a:ext cx="343814" cy="292608"/>
          </a:xfrm>
          <a:prstGeom prst="roundRect">
            <a:avLst>
              <a:gd name="adj" fmla="val 50000"/>
            </a:avLst>
          </a:prstGeom>
          <a:solidFill>
            <a:srgbClr val="FFEFE4"/>
          </a:solidFill>
          <a:ln/>
        </p:spPr>
      </p:sp>
      <p:sp>
        <p:nvSpPr>
          <p:cNvPr id="59" name="Text 57"/>
          <p:cNvSpPr/>
          <p:nvPr/>
        </p:nvSpPr>
        <p:spPr>
          <a:xfrm>
            <a:off x="10853928" y="4585716"/>
            <a:ext cx="34381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· TEARDOWN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Competitive landscape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420624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73168" y="1783080"/>
            <a:ext cx="1554480" cy="4572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9" name="Text 7"/>
          <p:cNvSpPr/>
          <p:nvPr/>
        </p:nvSpPr>
        <p:spPr>
          <a:xfrm>
            <a:off x="488289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764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Rival 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8212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799185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Rival 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3660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5" name="Text 13"/>
          <p:cNvSpPr/>
          <p:nvPr/>
        </p:nvSpPr>
        <p:spPr>
          <a:xfrm>
            <a:off x="954633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In-house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2402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40280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Multi-dim model scoring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2240280"/>
            <a:ext cx="1554480" cy="658368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7648" y="224028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82128" y="224028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36608" y="2240280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2898648"/>
            <a:ext cx="420624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2898648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/ safety layer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73168" y="2898648"/>
            <a:ext cx="1554480" cy="658368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7648" y="2898648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82128" y="2898648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82128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36608" y="2898648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355701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3557016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value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73168" y="3557016"/>
            <a:ext cx="1554480" cy="658368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Days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3557016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3557016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2128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436608" y="3557016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36608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6928" y="4215384"/>
            <a:ext cx="420624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215384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onboarding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73168" y="4215384"/>
            <a:ext cx="1554480" cy="658368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4215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7648" y="4215384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4215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~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882128" y="4215384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82128" y="4215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436608" y="4215384"/>
            <a:ext cx="155448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6608" y="42153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—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66928" y="487375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873752"/>
            <a:ext cx="3986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point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773168" y="4873752"/>
            <a:ext cx="1554480" cy="658368"/>
          </a:xfrm>
          <a:prstGeom prst="rect">
            <a:avLst/>
          </a:prstGeom>
          <a:solidFill>
            <a:srgbClr val="FFEFE4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73168" y="48737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$$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7648" y="4873752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48737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$$$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882128" y="4873752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82128" y="48737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$$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436608" y="4873752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6608" y="48737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$$$$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66928" y="5641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full   ~ partial   — none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·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Opportunity validation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27432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Desirable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customers want it?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000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12/15 interviews cited the pain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pull from mid-market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Willing to switch tools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4314" y="1783080"/>
            <a:ext cx="350306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4314" y="1783080"/>
            <a:ext cx="73152" cy="2743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3" name="Text 11"/>
          <p:cNvSpPr/>
          <p:nvPr/>
        </p:nvSpPr>
        <p:spPr>
          <a:xfrm>
            <a:off x="4600346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0346" y="23957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we build a business?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00346" y="2926080"/>
            <a:ext cx="3000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Usage-based pricing models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gross margin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GTM motion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1701" y="1783080"/>
            <a:ext cx="350306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1701" y="1783080"/>
            <a:ext cx="73152" cy="27432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8" name="Text 16"/>
          <p:cNvSpPr/>
          <p:nvPr/>
        </p:nvSpPr>
        <p:spPr>
          <a:xfrm>
            <a:off x="8377733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Feasible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7733" y="2395728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we build it?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77733" y="2926080"/>
            <a:ext cx="30001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IP already proven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 scoped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2-quarter v1 path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754880"/>
            <a:ext cx="11057839" cy="86868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754880"/>
            <a:ext cx="73152" cy="8686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75488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Verdict:  </a:t>
            </a:r>
            <a:pPr indent="0" marL="0">
              <a:buNone/>
            </a:pPr>
            <a:r>
              <a:rPr lang="en-US" sz="1500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Validated on all three lenses — proceed to a focused v1 with 3 design partners.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PMF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Product-market fit signals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4846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'Very disappointed' if product went away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47%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the 40% Sean Ellis threshold — early PMF signal.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4572000"/>
            <a:ext cx="4297680" cy="274320"/>
          </a:xfrm>
          <a:prstGeom prst="rect">
            <a:avLst/>
          </a:prstGeom>
          <a:solidFill>
            <a:srgbClr val="F5EDE0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4572000"/>
            <a:ext cx="2019910" cy="2743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4480560"/>
            <a:ext cx="0" cy="457200"/>
          </a:xfrm>
          <a:prstGeom prst="line">
            <a:avLst/>
          </a:prstGeom>
          <a:noFill/>
          <a:ln w="19050">
            <a:solidFill>
              <a:srgbClr val="241B1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103120" y="4892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40% bar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79008" y="1783080"/>
            <a:ext cx="584575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9008" y="1783080"/>
            <a:ext cx="73152" cy="8686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6" name="Text 14"/>
          <p:cNvSpPr/>
          <p:nvPr/>
        </p:nvSpPr>
        <p:spPr>
          <a:xfrm>
            <a:off x="6007608" y="1911096"/>
            <a:ext cx="5388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07608" y="2240280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Week-8 retention flat at 62%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79008" y="2770632"/>
            <a:ext cx="584575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79008" y="2770632"/>
            <a:ext cx="73152" cy="8686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2898648"/>
            <a:ext cx="5388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07608" y="3227832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of new signups via referral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79008" y="3758184"/>
            <a:ext cx="584575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79008" y="3758184"/>
            <a:ext cx="73152" cy="8686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4" name="Text 22"/>
          <p:cNvSpPr/>
          <p:nvPr/>
        </p:nvSpPr>
        <p:spPr>
          <a:xfrm>
            <a:off x="6007608" y="3886200"/>
            <a:ext cx="5388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07608" y="4215384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evals/week per active team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79008" y="4745736"/>
            <a:ext cx="584575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79008" y="4745736"/>
            <a:ext cx="73152" cy="8686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8" name="Text 26"/>
          <p:cNvSpPr/>
          <p:nvPr/>
        </p:nvSpPr>
        <p:spPr>
          <a:xfrm>
            <a:off x="6007608" y="4873752"/>
            <a:ext cx="5388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07608" y="5202936"/>
            <a:ext cx="5388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+44 among activated users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Refining the user value proposition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20240"/>
            <a:ext cx="344210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920240"/>
            <a:ext cx="73152" cy="329184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Features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9391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Multi-dim scoring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Shareable reports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4561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74794" y="1920240"/>
            <a:ext cx="344210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4794" y="1920240"/>
            <a:ext cx="73152" cy="329184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4" name="Text 12"/>
          <p:cNvSpPr/>
          <p:nvPr/>
        </p:nvSpPr>
        <p:spPr>
          <a:xfrm>
            <a:off x="4630826" y="2103120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Benefits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30826" y="2542032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30826" y="3063240"/>
            <a:ext cx="29391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Faster, rigorous evals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Safer outputs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stakeholder buy-in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53477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DBBA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82661" y="1920240"/>
            <a:ext cx="344210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2661" y="1920240"/>
            <a:ext cx="73152" cy="32918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0" name="Text 18"/>
          <p:cNvSpPr/>
          <p:nvPr/>
        </p:nvSpPr>
        <p:spPr>
          <a:xfrm>
            <a:off x="8438693" y="2103120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38693" y="2542032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change for them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38693" y="3063240"/>
            <a:ext cx="29391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right model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 the decision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Sleep at night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·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Primary persona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474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38404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Shape 6"/>
          <p:cNvSpPr/>
          <p:nvPr/>
        </p:nvSpPr>
        <p:spPr>
          <a:xfrm>
            <a:off x="1664208" y="2057400"/>
            <a:ext cx="1280160" cy="1280160"/>
          </a:xfrm>
          <a:prstGeom prst="ellipse">
            <a:avLst/>
          </a:prstGeom>
          <a:solidFill>
            <a:srgbClr val="F5EDE0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2057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Priya · Senior PM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· Mid-market SaaS · owns AI roadmap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" y="4434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"I need to choose a model and defend it to my CTO by Friday."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07408" y="1783080"/>
            <a:ext cx="721735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07408" y="1783080"/>
            <a:ext cx="73152" cy="11887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892808"/>
            <a:ext cx="6760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258568"/>
            <a:ext cx="6714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confidently &amp; fast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Justify the call with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3108960"/>
            <a:ext cx="721735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3108960"/>
            <a:ext cx="73152" cy="1188720"/>
          </a:xfrm>
          <a:prstGeom prst="rect">
            <a:avLst/>
          </a:prstGeom>
          <a:solidFill>
            <a:srgbClr val="C2503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218688"/>
            <a:ext cx="6760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0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Frustrations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584448"/>
            <a:ext cx="6714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eval eats weeks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 ≠ her use case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7408" y="4434840"/>
            <a:ext cx="721735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07408" y="4434840"/>
            <a:ext cx="73152" cy="11887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544568"/>
            <a:ext cx="67601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Behaviors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910328"/>
            <a:ext cx="67144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Lives in docs &amp; dashboards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Trusts peer proof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STORIES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User story map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593010" cy="5029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8308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Connect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8538" y="1783080"/>
            <a:ext cx="2593010" cy="5029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9" name="Text 7"/>
          <p:cNvSpPr/>
          <p:nvPr/>
        </p:nvSpPr>
        <p:spPr>
          <a:xfrm>
            <a:off x="3388538" y="178308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Run evaluation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0148" y="1783080"/>
            <a:ext cx="2593010" cy="5029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0148" y="178308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Review results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31757" y="1783080"/>
            <a:ext cx="2593010" cy="5029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3" name="Text 11"/>
          <p:cNvSpPr/>
          <p:nvPr/>
        </p:nvSpPr>
        <p:spPr>
          <a:xfrm>
            <a:off x="9031757" y="1783080"/>
            <a:ext cx="25930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Decide &amp; share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1 — backbone tasks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697480"/>
            <a:ext cx="259301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697480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API 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8538" y="2697480"/>
            <a:ext cx="259301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8266" y="2697480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models to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0148" y="2697480"/>
            <a:ext cx="259301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9876" y="2697480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score table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31757" y="2697480"/>
            <a:ext cx="259301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1485" y="2697480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3410712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410712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dataset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8538" y="3410712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8266" y="3410712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eval criteria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0148" y="3410712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9876" y="3410712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side by side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31757" y="3410712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1485" y="3410712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with team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123944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123944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schema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8538" y="4123944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8266" y="4123944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batch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0148" y="4123944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9876" y="4123944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 into failures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31757" y="4123944"/>
            <a:ext cx="2593010" cy="621792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1485" y="4123944"/>
            <a:ext cx="23735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the decision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4846320"/>
            <a:ext cx="11057839" cy="0"/>
          </a:xfrm>
          <a:prstGeom prst="line">
            <a:avLst/>
          </a:prstGeom>
          <a:noFill/>
          <a:ln w="19050">
            <a:solidFill>
              <a:srgbClr val="FF6A2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66928" y="4937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MVP line: ship the top row first 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SPEC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Feature design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6583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9144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9019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2402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can't tell which model is safest for their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6583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770632"/>
            <a:ext cx="73152" cy="9144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8895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322783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guardrails layer that scores on-policy behavior per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6583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758184"/>
            <a:ext cx="73152" cy="9144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770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421538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templates · violation flags · per-model report.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745736"/>
            <a:ext cx="6583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745736"/>
            <a:ext cx="73152" cy="9144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8646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520293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model fine-tuning · real-time inference proxy.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6368" y="1783080"/>
            <a:ext cx="4108399" cy="395020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965960"/>
            <a:ext cx="3651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Acceptance criteria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2377440"/>
            <a:ext cx="36054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≥95% of seeded violations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renders in &lt;3s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across 5 model providers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to PDF/CSV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297680"/>
            <a:ext cx="3651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Success metric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3605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of evals use guardrails within 30 days of launch.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WIREFRAME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Low-fidelity layout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731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00" cy="50292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947672"/>
            <a:ext cx="164592" cy="164592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1463040" cy="3429000"/>
          </a:xfrm>
          <a:prstGeom prst="rect">
            <a:avLst/>
          </a:prstGeom>
          <a:solidFill>
            <a:srgbClr val="F5EDE0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2560320"/>
            <a:ext cx="1097280" cy="256032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017520"/>
            <a:ext cx="1097280" cy="256032"/>
          </a:xfrm>
          <a:prstGeom prst="rect">
            <a:avLst/>
          </a:prstGeom>
          <a:solidFill>
            <a:srgbClr val="E3D6C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474720"/>
            <a:ext cx="1097280" cy="256032"/>
          </a:xfrm>
          <a:prstGeom prst="rect">
            <a:avLst/>
          </a:prstGeom>
          <a:solidFill>
            <a:srgbClr val="E3D6C2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931920"/>
            <a:ext cx="1097280" cy="256032"/>
          </a:xfrm>
          <a:prstGeom prst="rect">
            <a:avLst/>
          </a:prstGeom>
          <a:solidFill>
            <a:srgbClr val="E3D6C2"/>
          </a:solidFill>
          <a:ln/>
        </p:spPr>
      </p:sp>
      <p:sp>
        <p:nvSpPr>
          <p:cNvPr id="15" name="Shape 13"/>
          <p:cNvSpPr/>
          <p:nvPr/>
        </p:nvSpPr>
        <p:spPr>
          <a:xfrm>
            <a:off x="2212848" y="251460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251460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0448" y="2514600"/>
            <a:ext cx="1645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12848" y="35204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8608" y="4206240"/>
            <a:ext cx="457200" cy="10972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493008" y="3749040"/>
            <a:ext cx="457200" cy="15544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4389120"/>
            <a:ext cx="457200" cy="9144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2" name="Shape 20"/>
          <p:cNvSpPr/>
          <p:nvPr/>
        </p:nvSpPr>
        <p:spPr>
          <a:xfrm>
            <a:off x="5321808" y="3931920"/>
            <a:ext cx="457200" cy="13716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6208" y="4572000"/>
            <a:ext cx="457200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4" name="Text 22"/>
          <p:cNvSpPr/>
          <p:nvPr/>
        </p:nvSpPr>
        <p:spPr>
          <a:xfrm>
            <a:off x="8247888" y="1828800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Annotations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47888" y="2286000"/>
            <a:ext cx="337687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nav: primary tasks only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cards = at-a-glance verdict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 compares models on key metric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CTA: 'Run new eval' top-right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first paint &lt; 1.5s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Prototype concept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46304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4630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20240"/>
            <a:ext cx="104177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Our prototype is a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guided eval workspace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that lets a PM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compare candidate models on capability, cost, latency and safety in one view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— turning a multi-week analysis into an afternoon decision.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474720"/>
            <a:ext cx="350306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3474720"/>
            <a:ext cx="73152" cy="219456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3931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we'll 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3000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score table trusted?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verdict feel defensible?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'aha'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4314" y="3474720"/>
            <a:ext cx="350306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4314" y="3474720"/>
            <a:ext cx="73152" cy="219456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00346" y="363931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Fidelity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0346" y="4069080"/>
            <a:ext cx="3000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Clickable Figma flow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Seeded sample data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model comparison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1701" y="3474720"/>
            <a:ext cx="350306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1701" y="3474720"/>
            <a:ext cx="73152" cy="219456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9" name="Text 17"/>
          <p:cNvSpPr/>
          <p:nvPr/>
        </p:nvSpPr>
        <p:spPr>
          <a:xfrm>
            <a:off x="8377733" y="363931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Success looks like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7733" y="4069080"/>
            <a:ext cx="300014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reaches a confident pick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asking for help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use it for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· NORTH STAR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North Star &amp; AI evaluation metrics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105156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05156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STAR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Confident model decisions shipped per month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247327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1,240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8096" y="321868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347472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" y="397764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Evals run / team / wk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9074" y="310896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30242" y="321868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30242" y="347472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92%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30242" y="397764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accuracy vs. ground truth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91221" y="310896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92389" y="321868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92389" y="347472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98.5%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92389" y="397764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On-policy pass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43484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" y="454456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" y="480060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1.4 d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8096" y="530352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Time-to-decision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29074" y="443484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30242" y="454456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30242" y="480060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$0.38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530242" y="530352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/ 1k eval calls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1221" y="4434840"/>
            <a:ext cx="3533546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92389" y="4544568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92389" y="4800600"/>
            <a:ext cx="31677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88%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292389" y="5303520"/>
            <a:ext cx="3167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defended w/o rework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strategy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74520"/>
            <a:ext cx="347258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74520"/>
            <a:ext cx="73152" cy="36576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015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Self-serve, single 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296966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evals/mo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scoring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support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9554" y="1874520"/>
            <a:ext cx="347258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554" y="1874520"/>
            <a:ext cx="73152" cy="36576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5586" y="210312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5586" y="2514600"/>
            <a:ext cx="3015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$499/mo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5586" y="31089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product teams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5586" y="3566160"/>
            <a:ext cx="296966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5k evals/mo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workspace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2181" y="1874520"/>
            <a:ext cx="347258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2181" y="1874520"/>
            <a:ext cx="73152" cy="36576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8408213" y="210312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08213" y="2514600"/>
            <a:ext cx="30153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08213" y="31089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at scale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08213" y="3566160"/>
            <a:ext cx="296966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evals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&amp; audit logs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+ CSM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option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Value-based, usage-metered. Land on Team, expand to Enterprise via governance needs.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· PRIMARY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Primary research — what users told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pains cited (n=15 interviews)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2024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84848" y="1920240"/>
            <a:ext cx="483991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84848" y="1920240"/>
            <a:ext cx="73152" cy="11430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0" name="Text 7"/>
          <p:cNvSpPr/>
          <p:nvPr/>
        </p:nvSpPr>
        <p:spPr>
          <a:xfrm>
            <a:off x="7013448" y="2057400"/>
            <a:ext cx="43827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"I lose two weeks every model decision."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13448" y="2724912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Sr PM, fintech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84848" y="3154680"/>
            <a:ext cx="483991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84848" y="3154680"/>
            <a:ext cx="73152" cy="11430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4" name="Text 11"/>
          <p:cNvSpPr/>
          <p:nvPr/>
        </p:nvSpPr>
        <p:spPr>
          <a:xfrm>
            <a:off x="7013448" y="3291840"/>
            <a:ext cx="43827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"The leaderboard score means nothing for my data."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13448" y="3959352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ML lead, retail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84848" y="4389120"/>
            <a:ext cx="483991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84848" y="4389120"/>
            <a:ext cx="73152" cy="11430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18" name="Text 15"/>
          <p:cNvSpPr/>
          <p:nvPr/>
        </p:nvSpPr>
        <p:spPr>
          <a:xfrm>
            <a:off x="7013448" y="4526280"/>
            <a:ext cx="43827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"I can't defend the choice to my CTO."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13448" y="5193792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Head of product, SaaS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· SECONDARY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Secondary research — market context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tooling spend ($B)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2024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784848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budget goes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601968" y="192024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784848" y="4937760"/>
            <a:ext cx="48399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industry analyst reports, public filings, vendor disclosures (2025).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· SURVEY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Survey results (n=320)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82880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16368" y="1828800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16368" y="2286000"/>
            <a:ext cx="410839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 feel eval blocks them — clear pain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now a top-3 buying criterion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beats price for 58% — sell rigor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are switch-ready — winnable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numbers that matter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17830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6596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78%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59536" y="29260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teams say eval is a bottleneck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4314" y="178308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4314" y="1783080"/>
            <a:ext cx="73152" cy="17830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8634" y="196596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3.5×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636922" y="29260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decisions with a structured 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1701" y="178308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1701" y="1783080"/>
            <a:ext cx="73152" cy="17830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96021" y="196596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$21B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414309" y="292608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tooling market in 2025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794760"/>
            <a:ext cx="73152" cy="17830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7764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47%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859536" y="493776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be 'very disappointed' to lose 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4314" y="379476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4314" y="3794760"/>
            <a:ext cx="73152" cy="17830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4" name="Text 22"/>
          <p:cNvSpPr/>
          <p:nvPr/>
        </p:nvSpPr>
        <p:spPr>
          <a:xfrm>
            <a:off x="4618634" y="397764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92%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4636922" y="493776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accuracy vs. ground truth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21701" y="3794760"/>
            <a:ext cx="350306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21701" y="3794760"/>
            <a:ext cx="73152" cy="17830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8" name="Text 26"/>
          <p:cNvSpPr/>
          <p:nvPr/>
        </p:nvSpPr>
        <p:spPr>
          <a:xfrm>
            <a:off x="8396021" y="3977640"/>
            <a:ext cx="2954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1.4 d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8414309" y="4937760"/>
            <a:ext cx="2954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time-to-decision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· BEFORE/AFTER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Before vs. after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346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3840480"/>
          </a:xfrm>
          <a:prstGeom prst="rect">
            <a:avLst/>
          </a:prstGeom>
          <a:solidFill>
            <a:srgbClr val="CDBBA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6596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4A3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479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takes 3–4 weeks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on gut feel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safety visibility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defend to leadership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~40% of pilots stall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346040" cy="384048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8728" y="1783080"/>
            <a:ext cx="73152" cy="38404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1965960"/>
            <a:ext cx="479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AFTER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048" y="2468880"/>
            <a:ext cx="4797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takes 1–2 days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backed by data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scored per model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defensible report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convert 2× more often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75808" y="3520440"/>
            <a:ext cx="640080" cy="640080"/>
          </a:xfrm>
          <a:prstGeom prst="ellipse">
            <a:avLst/>
          </a:prstGeom>
          <a:solidFill>
            <a:srgbClr val="FF6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5808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FUNNEL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Activation funnel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260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Visited 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2648" y="1828800"/>
            <a:ext cx="6035040" cy="7315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8" name="Text 6"/>
          <p:cNvSpPr/>
          <p:nvPr/>
        </p:nvSpPr>
        <p:spPr>
          <a:xfrm>
            <a:off x="3352648" y="1828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10,000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697480"/>
            <a:ext cx="260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Signed 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2809" y="2697480"/>
            <a:ext cx="2534717" cy="7315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1" name="Text 9"/>
          <p:cNvSpPr/>
          <p:nvPr/>
        </p:nvSpPr>
        <p:spPr>
          <a:xfrm>
            <a:off x="5102809" y="2697480"/>
            <a:ext cx="25347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4,200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16288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260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Connected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85612" y="3566160"/>
            <a:ext cx="1569110" cy="7315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5" name="Text 13"/>
          <p:cNvSpPr/>
          <p:nvPr/>
        </p:nvSpPr>
        <p:spPr>
          <a:xfrm>
            <a:off x="5585612" y="3566160"/>
            <a:ext cx="15691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2,600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16288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434840"/>
            <a:ext cx="260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Ran first eval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7014" y="4434840"/>
            <a:ext cx="1086307" cy="7315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9" name="Text 17"/>
          <p:cNvSpPr/>
          <p:nvPr/>
        </p:nvSpPr>
        <p:spPr>
          <a:xfrm>
            <a:off x="5827014" y="4434840"/>
            <a:ext cx="10863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1,800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16288" y="4434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69%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303520"/>
            <a:ext cx="260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Activated — made a decision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95995" y="5303520"/>
            <a:ext cx="748345" cy="73152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23" name="Text 21"/>
          <p:cNvSpPr/>
          <p:nvPr/>
        </p:nvSpPr>
        <p:spPr>
          <a:xfrm>
            <a:off x="5995995" y="5303520"/>
            <a:ext cx="748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1,240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16288" y="5303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69%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79128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→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" y="63093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drop-off: visit → signup. Focus top-of-funnel messaging next.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KPI dashboard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59301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37360"/>
            <a:ext cx="73152" cy="100584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828800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2048256"/>
            <a:ext cx="222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$182k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2505456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+12% MoM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8538" y="1737360"/>
            <a:ext cx="259301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8538" y="1737360"/>
            <a:ext cx="73152" cy="10058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3" name="Text 11"/>
          <p:cNvSpPr/>
          <p:nvPr/>
        </p:nvSpPr>
        <p:spPr>
          <a:xfrm>
            <a:off x="3589706" y="1828800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TEAMS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9706" y="2048256"/>
            <a:ext cx="222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388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89706" y="2505456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+8% MoM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0148" y="1737360"/>
            <a:ext cx="259301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0148" y="1737360"/>
            <a:ext cx="73152" cy="100584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11316" y="1828800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EVALS / WK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11316" y="2048256"/>
            <a:ext cx="222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1,240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11316" y="2505456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 MoM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31757" y="1737360"/>
            <a:ext cx="259301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31757" y="1737360"/>
            <a:ext cx="73152" cy="100584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9232925" y="1828800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5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32925" y="2048256"/>
            <a:ext cx="222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2.1%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32925" y="2505456"/>
            <a:ext cx="222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-0.4pp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MRR trend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6928" y="32004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6601968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Evals by segment</a:t>
            </a:r>
            <a:endParaRPr lang="en-US" sz="12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6601968" y="3200400"/>
          <a:ext cx="5022799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AARRR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Pirate-metrics funnel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20240"/>
            <a:ext cx="2050633" cy="5029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2050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Acquisition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14600"/>
            <a:ext cx="205063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697480"/>
            <a:ext cx="1776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10k visits/mo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3566160"/>
            <a:ext cx="17763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SEO, community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0985" y="192024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18729" y="1920240"/>
            <a:ext cx="2050633" cy="5029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3" name="Text 11"/>
          <p:cNvSpPr/>
          <p:nvPr/>
        </p:nvSpPr>
        <p:spPr>
          <a:xfrm>
            <a:off x="2818729" y="1920240"/>
            <a:ext cx="2050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Activation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818729" y="2514600"/>
            <a:ext cx="205063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5889" y="2697480"/>
            <a:ext cx="1776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42% of signups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55889" y="3566160"/>
            <a:ext cx="17763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eval 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32787" y="192024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0531" y="1920240"/>
            <a:ext cx="2050633" cy="5029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9" name="Text 17"/>
          <p:cNvSpPr/>
          <p:nvPr/>
        </p:nvSpPr>
        <p:spPr>
          <a:xfrm>
            <a:off x="5070531" y="1920240"/>
            <a:ext cx="2050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70531" y="2514600"/>
            <a:ext cx="205063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7691" y="2697480"/>
            <a:ext cx="1776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62% week-8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207691" y="3566160"/>
            <a:ext cx="17763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active teams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4588" y="192024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22332" y="1920240"/>
            <a:ext cx="2050633" cy="5029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5" name="Text 23"/>
          <p:cNvSpPr/>
          <p:nvPr/>
        </p:nvSpPr>
        <p:spPr>
          <a:xfrm>
            <a:off x="7322332" y="1920240"/>
            <a:ext cx="2050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Revenue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22332" y="2514600"/>
            <a:ext cx="205063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9492" y="2697480"/>
            <a:ext cx="1776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18% of activated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59492" y="3566160"/>
            <a:ext cx="17763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to paid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390" y="1920240"/>
            <a:ext cx="292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74134" y="1920240"/>
            <a:ext cx="2050633" cy="5029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1" name="Text 29"/>
          <p:cNvSpPr/>
          <p:nvPr/>
        </p:nvSpPr>
        <p:spPr>
          <a:xfrm>
            <a:off x="9574134" y="1920240"/>
            <a:ext cx="20506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Referral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574134" y="2514600"/>
            <a:ext cx="2050633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11294" y="2697480"/>
            <a:ext cx="17763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0.4 viral coeff.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711294" y="3566160"/>
            <a:ext cx="17763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Invites &amp; sharing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GTM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Go-to-market plan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57243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274320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956816"/>
            <a:ext cx="211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377440"/>
            <a:ext cx="21152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PM &amp; data teams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AI-forward SaaS (50–500 ppl)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ICP: ships AI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5396" y="1783080"/>
            <a:ext cx="257243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5396" y="1783080"/>
            <a:ext cx="73152" cy="274320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2" name="Text 10"/>
          <p:cNvSpPr/>
          <p:nvPr/>
        </p:nvSpPr>
        <p:spPr>
          <a:xfrm>
            <a:off x="3623996" y="1956816"/>
            <a:ext cx="211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Message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23996" y="2377440"/>
            <a:ext cx="21152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AI models with confidence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+ rigor + safety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POV-led, proof-driven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3864" y="1783080"/>
            <a:ext cx="257243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3864" y="1783080"/>
            <a:ext cx="73152" cy="274320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52464" y="1956816"/>
            <a:ext cx="211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2464" y="2377440"/>
            <a:ext cx="21152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Product-led self-serve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+ community top-funnel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Sales-assist for Enterprise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331" y="1783080"/>
            <a:ext cx="257243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331" y="1783080"/>
            <a:ext cx="73152" cy="274320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9280931" y="1956816"/>
            <a:ext cx="2115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Channels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80931" y="2377440"/>
            <a:ext cx="21152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&amp; technical blog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&amp; founder-led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Design-partner referrals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3503066" cy="86868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754880"/>
            <a:ext cx="73152" cy="8686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486460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Phase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" y="5193792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partners (Q1)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44314" y="4754880"/>
            <a:ext cx="3503066" cy="86868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4314" y="4754880"/>
            <a:ext cx="73152" cy="8686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914" y="486460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Phase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914" y="5193792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beta (Q2)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1701" y="4754880"/>
            <a:ext cx="3503066" cy="86868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4754880"/>
            <a:ext cx="73152" cy="8686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350301" y="4864608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Phase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0301" y="5193792"/>
            <a:ext cx="30458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+ paid (Q3)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CAMPAIGN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Launch campaign timeline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91101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37834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84568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31301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178034" y="1645920"/>
            <a:ext cx="1446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Wk 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039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Teaser content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44368" y="2103120"/>
            <a:ext cx="2893466" cy="310896"/>
          </a:xfrm>
          <a:prstGeom prst="roundRect">
            <a:avLst>
              <a:gd name="adj" fmla="val 17647"/>
            </a:avLst>
          </a:prstGeom>
          <a:solidFill>
            <a:srgbClr val="7A5C8E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day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46394" y="2752344"/>
            <a:ext cx="310896" cy="310896"/>
          </a:xfrm>
          <a:prstGeom prst="ellipse">
            <a:avLst/>
          </a:prstGeom>
          <a:solidFill>
            <a:srgbClr val="FF6A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55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Webinar series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61201" y="3419856"/>
            <a:ext cx="2893466" cy="310896"/>
          </a:xfrm>
          <a:prstGeom prst="roundRect">
            <a:avLst>
              <a:gd name="adj" fmla="val 17647"/>
            </a:avLst>
          </a:prstGeom>
          <a:solidFill>
            <a:srgbClr val="5FAE7E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+ retargeting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84568" y="4078224"/>
            <a:ext cx="4340200" cy="310896"/>
          </a:xfrm>
          <a:prstGeom prst="roundRect">
            <a:avLst>
              <a:gd name="adj" fmla="val 17647"/>
            </a:avLst>
          </a:prstGeom>
          <a:solidFill>
            <a:srgbClr val="E0A53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72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31301" y="4736592"/>
            <a:ext cx="2893466" cy="310896"/>
          </a:xfrm>
          <a:prstGeom prst="roundRect">
            <a:avLst>
              <a:gd name="adj" fmla="val 17647"/>
            </a:avLst>
          </a:prstGeom>
          <a:solidFill>
            <a:srgbClr val="7A5C8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44368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1101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7834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4568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1301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78034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24767" y="2011680"/>
            <a:ext cx="0" cy="3291840"/>
          </a:xfrm>
          <a:prstGeom prst="line">
            <a:avLst/>
          </a:prstGeom>
          <a:noFill/>
          <a:ln w="6350">
            <a:solidFill>
              <a:srgbClr val="E3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· CHANNELS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Channel mix &amp; budget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66928" y="1828800"/>
          <a:ext cx="6217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150608" y="1828800"/>
            <a:ext cx="4474159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50608" y="1828800"/>
            <a:ext cx="73152" cy="896112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9" name="Text 6"/>
          <p:cNvSpPr/>
          <p:nvPr/>
        </p:nvSpPr>
        <p:spPr>
          <a:xfrm>
            <a:off x="7379208" y="1956816"/>
            <a:ext cx="401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Content/SEO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79208" y="2286000"/>
            <a:ext cx="4016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Compounding, owns intent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50608" y="2788920"/>
            <a:ext cx="4474159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50608" y="2788920"/>
            <a:ext cx="73152" cy="896112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3" name="Text 10"/>
          <p:cNvSpPr/>
          <p:nvPr/>
        </p:nvSpPr>
        <p:spPr>
          <a:xfrm>
            <a:off x="7379208" y="2916936"/>
            <a:ext cx="401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Paid social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79208" y="3246120"/>
            <a:ext cx="4016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reach, test messaging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50608" y="3749040"/>
            <a:ext cx="4474159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50608" y="3749040"/>
            <a:ext cx="73152" cy="896112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7" name="Text 14"/>
          <p:cNvSpPr/>
          <p:nvPr/>
        </p:nvSpPr>
        <p:spPr>
          <a:xfrm>
            <a:off x="7379208" y="3877056"/>
            <a:ext cx="401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79208" y="4206240"/>
            <a:ext cx="4016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High-trust, enterprise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50608" y="4709160"/>
            <a:ext cx="4474159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50608" y="4709160"/>
            <a:ext cx="73152" cy="896112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1" name="Text 18"/>
          <p:cNvSpPr/>
          <p:nvPr/>
        </p:nvSpPr>
        <p:spPr>
          <a:xfrm>
            <a:off x="7379208" y="4837176"/>
            <a:ext cx="401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79208" y="5166360"/>
            <a:ext cx="4016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Borrowed credibility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Milestone timeline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3383280"/>
            <a:ext cx="8497519" cy="0"/>
          </a:xfrm>
          <a:prstGeom prst="line">
            <a:avLst/>
          </a:prstGeom>
          <a:noFill/>
          <a:ln w="25400">
            <a:solidFill>
              <a:srgbClr val="CDBB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0784" y="3236976"/>
            <a:ext cx="292608" cy="292608"/>
          </a:xfrm>
          <a:prstGeom prst="ellipse">
            <a:avLst/>
          </a:prstGeom>
          <a:solidFill>
            <a:srgbClr val="5FAE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011680"/>
            <a:ext cx="73152" cy="96012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121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partners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47088" y="2971800"/>
            <a:ext cx="0" cy="411480"/>
          </a:xfrm>
          <a:prstGeom prst="line">
            <a:avLst/>
          </a:prstGeom>
          <a:noFill/>
          <a:ln w="12700">
            <a:solidFill>
              <a:srgbClr val="5FAE7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33290" y="3236976"/>
            <a:ext cx="292608" cy="292608"/>
          </a:xfrm>
          <a:prstGeom prst="ellipse">
            <a:avLst/>
          </a:prstGeom>
          <a:solidFill>
            <a:srgbClr val="E0A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0874" y="379476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0874" y="3794760"/>
            <a:ext cx="73152" cy="96012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6" name="Text 14"/>
          <p:cNvSpPr/>
          <p:nvPr/>
        </p:nvSpPr>
        <p:spPr>
          <a:xfrm>
            <a:off x="3673754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73754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beta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79594" y="3383280"/>
            <a:ext cx="0" cy="411480"/>
          </a:xfrm>
          <a:prstGeom prst="line">
            <a:avLst/>
          </a:prstGeom>
          <a:noFill/>
          <a:ln w="12700">
            <a:solidFill>
              <a:srgbClr val="E0A53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365797" y="3236976"/>
            <a:ext cx="292608" cy="292608"/>
          </a:xfrm>
          <a:prstGeom prst="ellipse">
            <a:avLst/>
          </a:prstGeom>
          <a:solidFill>
            <a:srgbClr val="FF6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3381" y="201168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3381" y="2011680"/>
            <a:ext cx="73152" cy="96012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506261" y="2121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06261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+ paid launch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12101" y="2971800"/>
            <a:ext cx="0" cy="411480"/>
          </a:xfrm>
          <a:prstGeom prst="line">
            <a:avLst/>
          </a:prstGeom>
          <a:noFill/>
          <a:ln w="12700">
            <a:solidFill>
              <a:srgbClr val="FF6A2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198303" y="3236976"/>
            <a:ext cx="292608" cy="292608"/>
          </a:xfrm>
          <a:prstGeom prst="ellipse">
            <a:avLst/>
          </a:prstGeom>
          <a:solidFill>
            <a:srgbClr val="7A5C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887" y="379476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55887" y="3794760"/>
            <a:ext cx="73152" cy="96012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8" name="Text 26"/>
          <p:cNvSpPr/>
          <p:nvPr/>
        </p:nvSpPr>
        <p:spPr>
          <a:xfrm>
            <a:off x="9338767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38767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44607" y="3383280"/>
            <a:ext cx="0" cy="411480"/>
          </a:xfrm>
          <a:prstGeom prst="line">
            <a:avLst/>
          </a:prstGeom>
          <a:noFill/>
          <a:ln w="12700">
            <a:solidFill>
              <a:srgbClr val="7A5C8E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RACI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Roles &amp; responsibilities (RACI)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1089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75888" y="1783080"/>
            <a:ext cx="1589776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1783080"/>
            <a:ext cx="158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65664" y="1783080"/>
            <a:ext cx="1589776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5265664" y="1783080"/>
            <a:ext cx="158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5440" y="1783080"/>
            <a:ext cx="1589776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5440" y="1783080"/>
            <a:ext cx="158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45216" y="1783080"/>
            <a:ext cx="1589776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5" name="Text 13"/>
          <p:cNvSpPr/>
          <p:nvPr/>
        </p:nvSpPr>
        <p:spPr>
          <a:xfrm>
            <a:off x="8445216" y="1783080"/>
            <a:ext cx="158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34991" y="1783080"/>
            <a:ext cx="1589776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4991" y="1783080"/>
            <a:ext cx="158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2240280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2402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framework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75888" y="2240280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184" y="2404872"/>
            <a:ext cx="329184" cy="329184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22" name="Text 20"/>
          <p:cNvSpPr/>
          <p:nvPr/>
        </p:nvSpPr>
        <p:spPr>
          <a:xfrm>
            <a:off x="4306184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65664" y="2240280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5960" y="2404872"/>
            <a:ext cx="329184" cy="32918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25" name="Text 23"/>
          <p:cNvSpPr/>
          <p:nvPr/>
        </p:nvSpPr>
        <p:spPr>
          <a:xfrm>
            <a:off x="589596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5440" y="2240280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85736" y="2404872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28" name="Text 26"/>
          <p:cNvSpPr/>
          <p:nvPr/>
        </p:nvSpPr>
        <p:spPr>
          <a:xfrm>
            <a:off x="7485736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45216" y="2240280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5511" y="2404872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31" name="Text 29"/>
          <p:cNvSpPr/>
          <p:nvPr/>
        </p:nvSpPr>
        <p:spPr>
          <a:xfrm>
            <a:off x="9075511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34991" y="2240280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65287" y="2404872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5287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2898648"/>
            <a:ext cx="310896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28986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build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75888" y="2898648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6184" y="3063240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39" name="Text 37"/>
          <p:cNvSpPr/>
          <p:nvPr/>
        </p:nvSpPr>
        <p:spPr>
          <a:xfrm>
            <a:off x="4306184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65664" y="2898648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5960" y="3063240"/>
            <a:ext cx="329184" cy="32918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42" name="Text 40"/>
          <p:cNvSpPr/>
          <p:nvPr/>
        </p:nvSpPr>
        <p:spPr>
          <a:xfrm>
            <a:off x="589596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5440" y="2898648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85736" y="3063240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45" name="Text 43"/>
          <p:cNvSpPr/>
          <p:nvPr/>
        </p:nvSpPr>
        <p:spPr>
          <a:xfrm>
            <a:off x="7485736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45216" y="2898648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75511" y="3063240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48" name="Text 46"/>
          <p:cNvSpPr/>
          <p:nvPr/>
        </p:nvSpPr>
        <p:spPr>
          <a:xfrm>
            <a:off x="9075511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034991" y="2898648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65287" y="3063240"/>
            <a:ext cx="329184" cy="329184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51" name="Text 49"/>
          <p:cNvSpPr/>
          <p:nvPr/>
        </p:nvSpPr>
        <p:spPr>
          <a:xfrm>
            <a:off x="10665287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3557016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" y="3557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program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75888" y="3557016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06184" y="3721608"/>
            <a:ext cx="329184" cy="32918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56" name="Text 54"/>
          <p:cNvSpPr/>
          <p:nvPr/>
        </p:nvSpPr>
        <p:spPr>
          <a:xfrm>
            <a:off x="4306184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265664" y="3557016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95960" y="3721608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59" name="Text 57"/>
          <p:cNvSpPr/>
          <p:nvPr/>
        </p:nvSpPr>
        <p:spPr>
          <a:xfrm>
            <a:off x="589596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55440" y="3557016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85736" y="3721608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62" name="Text 60"/>
          <p:cNvSpPr/>
          <p:nvPr/>
        </p:nvSpPr>
        <p:spPr>
          <a:xfrm>
            <a:off x="7485736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45216" y="3557016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75511" y="3721608"/>
            <a:ext cx="329184" cy="329184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65" name="Text 63"/>
          <p:cNvSpPr/>
          <p:nvPr/>
        </p:nvSpPr>
        <p:spPr>
          <a:xfrm>
            <a:off x="9075511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034991" y="3557016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65287" y="3721608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68" name="Text 66"/>
          <p:cNvSpPr/>
          <p:nvPr/>
        </p:nvSpPr>
        <p:spPr>
          <a:xfrm>
            <a:off x="10665287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66928" y="4215384"/>
            <a:ext cx="3108960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4088" y="42153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&amp; GTM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675888" y="4215384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06184" y="4379976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73" name="Text 71"/>
          <p:cNvSpPr/>
          <p:nvPr/>
        </p:nvSpPr>
        <p:spPr>
          <a:xfrm>
            <a:off x="4306184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265664" y="4215384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95960" y="4379976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76" name="Text 74"/>
          <p:cNvSpPr/>
          <p:nvPr/>
        </p:nvSpPr>
        <p:spPr>
          <a:xfrm>
            <a:off x="5895960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855440" y="4215384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85736" y="4379976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79" name="Text 77"/>
          <p:cNvSpPr/>
          <p:nvPr/>
        </p:nvSpPr>
        <p:spPr>
          <a:xfrm>
            <a:off x="7485736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445216" y="4215384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75511" y="4379976"/>
            <a:ext cx="329184" cy="32918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82" name="Text 80"/>
          <p:cNvSpPr/>
          <p:nvPr/>
        </p:nvSpPr>
        <p:spPr>
          <a:xfrm>
            <a:off x="9075511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0034991" y="4215384"/>
            <a:ext cx="1589776" cy="658368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65287" y="4379976"/>
            <a:ext cx="329184" cy="329184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85" name="Text 83"/>
          <p:cNvSpPr/>
          <p:nvPr/>
        </p:nvSpPr>
        <p:spPr>
          <a:xfrm>
            <a:off x="10665287" y="4379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66928" y="4873752"/>
            <a:ext cx="3108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4088" y="48737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675888" y="4873752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6184" y="5038344"/>
            <a:ext cx="329184" cy="32918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90" name="Text 88"/>
          <p:cNvSpPr/>
          <p:nvPr/>
        </p:nvSpPr>
        <p:spPr>
          <a:xfrm>
            <a:off x="4306184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265664" y="4873752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95960" y="5038344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93" name="Text 91"/>
          <p:cNvSpPr/>
          <p:nvPr/>
        </p:nvSpPr>
        <p:spPr>
          <a:xfrm>
            <a:off x="5895960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855440" y="4873752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85736" y="5038344"/>
            <a:ext cx="329184" cy="329184"/>
          </a:xfrm>
          <a:prstGeom prst="ellipse">
            <a:avLst/>
          </a:prstGeom>
          <a:solidFill>
            <a:srgbClr val="CDBBA0"/>
          </a:solidFill>
          <a:ln/>
        </p:spPr>
      </p:sp>
      <p:sp>
        <p:nvSpPr>
          <p:cNvPr id="96" name="Text 94"/>
          <p:cNvSpPr/>
          <p:nvPr/>
        </p:nvSpPr>
        <p:spPr>
          <a:xfrm>
            <a:off x="7485736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445216" y="4873752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75511" y="5038344"/>
            <a:ext cx="329184" cy="329184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99" name="Text 97"/>
          <p:cNvSpPr/>
          <p:nvPr/>
        </p:nvSpPr>
        <p:spPr>
          <a:xfrm>
            <a:off x="9075511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10034991" y="4873752"/>
            <a:ext cx="1589776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665287" y="5038344"/>
            <a:ext cx="329184" cy="329184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665287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566928" y="56418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Responsible   A Accountable   C Consulted   I Informed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WORKSTREAMS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Parallel workstreams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37490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Product &amp; Eng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eval + guardrails 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063240"/>
            <a:ext cx="73152" cy="566928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063240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scoring v1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39896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39896"/>
            <a:ext cx="73152" cy="566928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739896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416552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16552"/>
            <a:ext cx="73152" cy="566928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4416552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4314" y="1783080"/>
            <a:ext cx="350306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4314" y="1783080"/>
            <a:ext cx="73152" cy="374904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1" name="Text 19"/>
          <p:cNvSpPr/>
          <p:nvPr/>
        </p:nvSpPr>
        <p:spPr>
          <a:xfrm>
            <a:off x="4600346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Research &amp;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00346" y="2395728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and shape the experience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00346" y="3063240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0346" y="3063240"/>
            <a:ext cx="73152" cy="566928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1514" y="3063240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Design-partner interviews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00346" y="3739896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0346" y="3739896"/>
            <a:ext cx="73152" cy="566928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1514" y="3739896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 → hi-fi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00346" y="4416552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00346" y="4416552"/>
            <a:ext cx="73152" cy="566928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1514" y="4416552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1701" y="1783080"/>
            <a:ext cx="350306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21701" y="1783080"/>
            <a:ext cx="73152" cy="374904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34" name="Text 32"/>
          <p:cNvSpPr/>
          <p:nvPr/>
        </p:nvSpPr>
        <p:spPr>
          <a:xfrm>
            <a:off x="8377733" y="1975104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GTM &amp; Marketing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77733" y="2395728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pipeline and launch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77733" y="3063240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77733" y="3063240"/>
            <a:ext cx="73152" cy="566928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78901" y="3063240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engine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77733" y="3739896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7733" y="3739896"/>
            <a:ext cx="73152" cy="566928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41" name="Text 39"/>
          <p:cNvSpPr/>
          <p:nvPr/>
        </p:nvSpPr>
        <p:spPr>
          <a:xfrm>
            <a:off x="8578901" y="3739896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recruitment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77733" y="4416552"/>
            <a:ext cx="2991002" cy="566928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77733" y="4416552"/>
            <a:ext cx="73152" cy="566928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44" name="Text 42"/>
          <p:cNvSpPr/>
          <p:nvPr/>
        </p:nvSpPr>
        <p:spPr>
          <a:xfrm>
            <a:off x="8578901" y="4416552"/>
            <a:ext cx="2771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plan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org structure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4248" y="1783080"/>
            <a:ext cx="2743200" cy="822960"/>
          </a:xfrm>
          <a:prstGeom prst="rect">
            <a:avLst/>
          </a:prstGeom>
          <a:solidFill>
            <a:srgbClr val="F5EDE0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24248" y="1783080"/>
            <a:ext cx="73152" cy="82296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Text 6"/>
          <p:cNvSpPr/>
          <p:nvPr/>
        </p:nvSpPr>
        <p:spPr>
          <a:xfrm>
            <a:off x="472424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Product Lead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24248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strategy &amp; roadmap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255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3291840"/>
            <a:ext cx="73152" cy="15544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74720"/>
            <a:ext cx="219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AE7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Eng (3)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397764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core platform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46288" y="2606040"/>
            <a:ext cx="0" cy="68580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9968" y="3291840"/>
            <a:ext cx="255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99968" y="3291840"/>
            <a:ext cx="73152" cy="15544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17" name="Text 15"/>
          <p:cNvSpPr/>
          <p:nvPr/>
        </p:nvSpPr>
        <p:spPr>
          <a:xfrm>
            <a:off x="3582848" y="3474720"/>
            <a:ext cx="219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5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(1)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82848" y="397764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&amp; research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79328" y="2606040"/>
            <a:ext cx="0" cy="68580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3291840"/>
            <a:ext cx="255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3008" y="3291840"/>
            <a:ext cx="73152" cy="15544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22" name="Text 20"/>
          <p:cNvSpPr/>
          <p:nvPr/>
        </p:nvSpPr>
        <p:spPr>
          <a:xfrm>
            <a:off x="6415888" y="3474720"/>
            <a:ext cx="219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8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(1)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5888" y="397764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methodology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12367" y="2606040"/>
            <a:ext cx="0" cy="68580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6047" y="3291840"/>
            <a:ext cx="255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66047" y="3291840"/>
            <a:ext cx="73152" cy="15544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27" name="Text 25"/>
          <p:cNvSpPr/>
          <p:nvPr/>
        </p:nvSpPr>
        <p:spPr>
          <a:xfrm>
            <a:off x="9248927" y="3474720"/>
            <a:ext cx="219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GTM (2)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48927" y="397764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&amp; growth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345407" y="2606040"/>
            <a:ext cx="0" cy="68580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46288" y="3063240"/>
            <a:ext cx="8499119" cy="0"/>
          </a:xfrm>
          <a:prstGeom prst="line">
            <a:avLst/>
          </a:prstGeom>
          <a:noFill/>
          <a:ln w="12700">
            <a:solidFill>
              <a:srgbClr val="CDBB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· RISK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Risks &amp; mitigations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402336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8308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90288" y="1783080"/>
            <a:ext cx="155448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9" name="Text 7"/>
          <p:cNvSpPr/>
          <p:nvPr/>
        </p:nvSpPr>
        <p:spPr>
          <a:xfrm>
            <a:off x="4718304" y="17830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137160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7830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16368" y="1783080"/>
            <a:ext cx="4114800" cy="457200"/>
          </a:xfrm>
          <a:prstGeom prst="rect">
            <a:avLst/>
          </a:prstGeom>
          <a:solidFill>
            <a:srgbClr val="241B14"/>
          </a:solidFill>
          <a:ln/>
        </p:spPr>
      </p:sp>
      <p:sp>
        <p:nvSpPr>
          <p:cNvPr id="13" name="Text 11"/>
          <p:cNvSpPr/>
          <p:nvPr/>
        </p:nvSpPr>
        <p:spPr>
          <a:xfrm>
            <a:off x="7644384" y="178308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24028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Well-funded entrant moves first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0288" y="224028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49631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49174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224028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496312"/>
            <a:ext cx="486461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491740"/>
            <a:ext cx="4864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16368" y="22402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240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narrow wedge fast; own guardrails niche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063240"/>
            <a:ext cx="402336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partners churn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90288" y="3063240"/>
            <a:ext cx="155448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331927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31470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3063240"/>
            <a:ext cx="137160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31927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31470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16368" y="3063240"/>
            <a:ext cx="411480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063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Over-recruit; tight feedback loop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388620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886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providers change pricing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90288" y="3886200"/>
            <a:ext cx="1554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414223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413766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44768" y="388620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414223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13766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16368" y="3886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Multi-provider abstraction layer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4709160"/>
            <a:ext cx="402336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709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accuracy questioned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90288" y="4709160"/>
            <a:ext cx="155448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74920" y="4965192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4960620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A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44768" y="4709160"/>
            <a:ext cx="137160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4965192"/>
            <a:ext cx="486461" cy="292608"/>
          </a:xfrm>
          <a:prstGeom prst="roundRect">
            <a:avLst>
              <a:gd name="adj" fmla="val 50000"/>
            </a:avLst>
          </a:prstGeom>
          <a:solidFill>
            <a:srgbClr val="FBF1E6"/>
          </a:solidFill>
          <a:ln/>
        </p:spPr>
      </p:sp>
      <p:sp>
        <p:nvSpPr>
          <p:cNvPr id="51" name="Text 49"/>
          <p:cNvSpPr/>
          <p:nvPr/>
        </p:nvSpPr>
        <p:spPr>
          <a:xfrm>
            <a:off x="6537960" y="4960620"/>
            <a:ext cx="48646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5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16368" y="4709160"/>
            <a:ext cx="4114800" cy="822960"/>
          </a:xfrm>
          <a:prstGeom prst="rect">
            <a:avLst/>
          </a:prstGeom>
          <a:solidFill>
            <a:srgbClr val="F5EDE0"/>
          </a:solidFill>
          <a:ln w="6350">
            <a:solidFill>
              <a:srgbClr val="E3D6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62672" y="4709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methodology; ground-truth audits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46304" cy="146304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A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·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 &amp; owners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11057839" cy="0"/>
          </a:xfrm>
          <a:prstGeom prst="line">
            <a:avLst/>
          </a:prstGeom>
          <a:noFill/>
          <a:ln w="12700">
            <a:solidFill>
              <a:srgbClr val="E3D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83080"/>
            <a:ext cx="73152" cy="86868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FF6A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1328" y="19293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A2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67328" y="19293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Confirm 3 design partners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13087" y="2075688"/>
            <a:ext cx="843077" cy="292608"/>
          </a:xfrm>
          <a:prstGeom prst="roundRect">
            <a:avLst>
              <a:gd name="adj" fmla="val 50000"/>
            </a:avLst>
          </a:prstGeom>
          <a:solidFill>
            <a:srgbClr val="F5EDE0"/>
          </a:solidFill>
          <a:ln/>
        </p:spPr>
      </p:sp>
      <p:sp>
        <p:nvSpPr>
          <p:cNvPr id="13" name="Text 11"/>
          <p:cNvSpPr/>
          <p:nvPr/>
        </p:nvSpPr>
        <p:spPr>
          <a:xfrm>
            <a:off x="9613087" y="2071116"/>
            <a:ext cx="84307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· PM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770632"/>
            <a:ext cx="110578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770632"/>
            <a:ext cx="73152" cy="868680"/>
          </a:xfrm>
          <a:prstGeom prst="rect">
            <a:avLst/>
          </a:prstGeom>
          <a:solidFill>
            <a:srgbClr val="5FAE7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980944"/>
            <a:ext cx="457200" cy="457200"/>
          </a:xfrm>
          <a:prstGeom prst="ellipse">
            <a:avLst/>
          </a:prstGeom>
          <a:solidFill>
            <a:srgbClr val="5FAE7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81328" y="29169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E7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Weeks 2–4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67328" y="29169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Ship eval scoring v1 to partners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13087" y="3063240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5EDE0"/>
          </a:solidFill>
          <a:ln/>
        </p:spPr>
      </p:sp>
      <p:sp>
        <p:nvSpPr>
          <p:cNvPr id="21" name="Text 19"/>
          <p:cNvSpPr/>
          <p:nvPr/>
        </p:nvSpPr>
        <p:spPr>
          <a:xfrm>
            <a:off x="9613087" y="3058668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758184"/>
            <a:ext cx="110578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758184"/>
            <a:ext cx="73152" cy="868680"/>
          </a:xfrm>
          <a:prstGeom prst="rect">
            <a:avLst/>
          </a:prstGeom>
          <a:solidFill>
            <a:srgbClr val="E0A5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968496"/>
            <a:ext cx="457200" cy="457200"/>
          </a:xfrm>
          <a:prstGeom prst="ellipse">
            <a:avLst/>
          </a:prstGeom>
          <a:solidFill>
            <a:srgbClr val="E0A53C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81328" y="39044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5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67328" y="39044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 in guardrails + reports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13087" y="405079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9613087" y="404622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·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4745736"/>
            <a:ext cx="110578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2"/>
            </a:solidFill>
            <a:prstDash val="solid"/>
          </a:ln>
          <a:effectLst>
            <a:outerShdw sx="100000" sy="100000" kx="0" ky="0" algn="bl" rotWithShape="0" blurRad="88900" dist="38100" dir="8100000">
              <a:srgbClr val="241B1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4745736"/>
            <a:ext cx="73152" cy="868680"/>
          </a:xfrm>
          <a:prstGeom prst="rect">
            <a:avLst/>
          </a:prstGeom>
          <a:solidFill>
            <a:srgbClr val="7A5C8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956048"/>
            <a:ext cx="457200" cy="45720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81328" y="4892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67328" y="4892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1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Public beta + launch content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613087" y="5038344"/>
            <a:ext cx="415138" cy="292608"/>
          </a:xfrm>
          <a:prstGeom prst="roundRect">
            <a:avLst>
              <a:gd name="adj" fmla="val 50000"/>
            </a:avLst>
          </a:prstGeom>
          <a:solidFill>
            <a:srgbClr val="F5EDE0"/>
          </a:solidFill>
          <a:ln/>
        </p:spPr>
      </p:sp>
      <p:sp>
        <p:nvSpPr>
          <p:cNvPr id="37" name="Text 35"/>
          <p:cNvSpPr/>
          <p:nvPr/>
        </p:nvSpPr>
        <p:spPr>
          <a:xfrm>
            <a:off x="9613087" y="5033772"/>
            <a:ext cx="4151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4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58247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A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Decision needed today: approve the 2-quarter focused build and resourcing.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8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Arun Teja Kamisetti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B7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Arun Teja Kamisetti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Arun Teja Kamisetti</dc:creator>
  <cp:lastModifiedBy>Arun Teja Kamisetti</cp:lastModifiedBy>
  <cp:revision>1</cp:revision>
  <dcterms:created xsi:type="dcterms:W3CDTF">2026-06-19T14:16:43Z</dcterms:created>
  <dcterms:modified xsi:type="dcterms:W3CDTF">2026-06-19T14:16:43Z</dcterms:modified>
</cp:coreProperties>
</file>